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46920" y="530352"/>
            <a:ext cx="1115568" cy="111556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87000" y="1069848"/>
            <a:ext cx="1783080" cy="1783080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0" y="4526280"/>
            <a:ext cx="914400" cy="91440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463040" cy="1463040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 flipV="1">
            <a:off x="10195560" y="1417320"/>
            <a:ext cx="868680" cy="59436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064240" y="1417320"/>
            <a:ext cx="320040" cy="10058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607040" y="2423160"/>
            <a:ext cx="777240" cy="54864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2971800"/>
            <a:ext cx="868680" cy="731520"/>
          </a:xfrm>
          <a:prstGeom prst="line">
            <a:avLst/>
          </a:prstGeom>
          <a:ln w="17780">
            <a:solidFill>
              <a:srgbClr val="345B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0131552" y="194767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00232" y="1353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320272" y="235915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543032" y="290779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11712" y="3639312"/>
            <a:ext cx="128016" cy="128016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676656"/>
            <a:ext cx="109728" cy="10515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658368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C2B0"/>
                </a:solidFill>
                <a:latin typeface="Aptos"/>
              </a:defRPr>
            </a:pPr>
            <a:r>
              <a:t>PROJECT REVIEW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1188720"/>
            <a:ext cx="8046720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4200" b="1">
                <a:solidFill>
                  <a:srgbClr val="F6FAFC"/>
                </a:solidFill>
                <a:latin typeface="Aptos Display"/>
              </a:defRPr>
            </a:pPr>
            <a:r>
              <a:t>DermTrack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2212848"/>
            <a:ext cx="76809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0">
                <a:solidFill>
                  <a:srgbClr val="B5CCD5"/>
                </a:solidFill>
                <a:latin typeface="Aptos"/>
              </a:defRPr>
            </a:pPr>
            <a:r>
              <a:t>AI-Assisted Non-Diagnostic</a:t>
            </a:r>
            <a:br/>
            <a:r>
              <a:t>Dermatology Support System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3767328"/>
            <a:ext cx="8156448" cy="205740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069080"/>
            <a:ext cx="288036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43400"/>
            <a:ext cx="28803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Annam Akash  ·  23MIA1112</a:t>
            </a:r>
            <a:br/>
            <a:r>
              <a:t>B. Hema  ·  23MIA1101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069080"/>
            <a:ext cx="36118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PROJECT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343400"/>
            <a:ext cx="36118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Dr. Abhishi Choudhury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46320"/>
            <a:ext cx="708660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3C2B0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20640"/>
            <a:ext cx="70866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6FAFC"/>
                </a:solidFill>
                <a:latin typeface="Aptos"/>
              </a:defRPr>
            </a:pPr>
            <a:r>
              <a:t>Integrated M.Tech CSE (BA)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6144768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2026  /  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The gap DermTrack addresses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02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623560" cy="1847088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4983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6FAFC"/>
                </a:solidFill>
                <a:latin typeface="Aptos"/>
              </a:defRPr>
            </a:pPr>
            <a:r>
              <a:t>People struggle to interpret skin symptoms and decide what to do next. Online information is often fragmented, hard to verify, and unsafe without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76479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AFC"/>
                </a:solidFill>
                <a:latin typeface="Aptos"/>
              </a:defRPr>
            </a:pPr>
            <a:r>
              <a:t>Why this is difficult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9984" y="221284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194560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Unstructured 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41448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Symptoms, history, and images arrive in different formats.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984" y="2871215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852927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overload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099815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Reliable medical information is scattered across sources.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3529584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5112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Safety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3758183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A confident but unsupported answer can delay appropriate care.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984" y="41879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169664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Limited continuity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4416552"/>
            <a:ext cx="4069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Previous consultations and observations are hard to organize.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041648"/>
            <a:ext cx="10881360" cy="1234440"/>
          </a:xfrm>
          <a:prstGeom prst="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4315968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DERMTRACK'S RESPONSE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251960"/>
            <a:ext cx="8092440" cy="4937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Structured intake + optional image observations + safety triage + trusted retrieval + consultation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800600"/>
            <a:ext cx="8092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DEEDF0"/>
                </a:solidFill>
                <a:latin typeface="Aptos"/>
              </a:defRPr>
            </a:pPr>
            <a:r>
              <a:t>Supports informed next steps; it does not replace a dermatologist or issue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PROBLEM IDENTIFICATION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6FAFC"/>
                </a:solidFill>
                <a:latin typeface="Aptos Display"/>
              </a:defRPr>
            </a:pPr>
            <a:r>
              <a:t>Who needs it—and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03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Patients seeking understandable guidance</a:t>
            </a:r>
            <a:br/>
            <a:br/>
            <a:r>
              <a:t>Clinicians reviewing structured consultation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25696" y="1719072"/>
            <a:ext cx="82296" cy="1865376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AI-assisted dermatology support</a:t>
            </a:r>
            <a:br/>
            <a:br/>
            <a:r>
              <a:t>Text + optional skin images + medical knowledge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1719072"/>
            <a:ext cx="3337560" cy="1865376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93024" y="1719072"/>
            <a:ext cx="82296" cy="1865376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975104"/>
            <a:ext cx="2880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340864"/>
            <a:ext cx="2880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Make first-line information more organized, explainable, privacy-conscious, and safety-aware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230368" cy="1417320"/>
          </a:xfrm>
          <a:prstGeom prst="roundRect">
            <a:avLst/>
          </a:prstGeom>
          <a:solidFill>
            <a:srgbClr val="144350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PRACTICAL RELEVANCE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4526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A realistic workflow for collecting better consultation context, grounding answers in trusted sources, flagging warning signs, and preserving a usable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977639"/>
            <a:ext cx="5349240" cy="1417320"/>
          </a:xfrm>
          <a:prstGeom prst="roundRect">
            <a:avLst/>
          </a:prstGeom>
          <a:solidFill>
            <a:srgbClr val="363140"/>
          </a:solidFill>
          <a:ln w="12700"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83096" y="4251960"/>
            <a:ext cx="22860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EXPECTED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590288"/>
            <a:ext cx="4617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6FAFC"/>
                </a:solidFill>
                <a:latin typeface="Aptos"/>
              </a:defRPr>
            </a:pPr>
            <a:r>
              <a:t>Improve access to understandable, evidence-linked support; encourage earlier professional attention when red flags appear; and reduce unsupported, overconfident health responses.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897880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Expected impact is a design objective, not a claim of clinical effectiveness; validation with clinicians and real-world users remains future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How the evidence was selected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04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B5CCD5"/>
                </a:solidFill>
                <a:latin typeface="Aptos"/>
              </a:defRPr>
            </a:pPr>
            <a:r>
              <a:t>The review connects DermTrack's implementation choices to research on dermatology AI, evidence grounding, fairness, and safe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01  DOMAIN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Dermatology image AI and multimodal models</a:t>
            </a:r>
            <a:br/>
            <a:br/>
            <a:r>
              <a:t>Question: How well do image-based systems generalize?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02  SYSTEM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RAG and medical language models</a:t>
            </a:r>
            <a:br/>
            <a:br/>
            <a:r>
              <a:t>Question: How can responses be grounded in external knowledge?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68296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03  SAFETY + FAIRNESS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772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Bias, explainability, and governance</a:t>
            </a:r>
            <a:br/>
            <a:br/>
            <a:r>
              <a:t>Question: What must the system avoid claiming?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096512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SELECTED SOURCE 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407408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6FAFC"/>
                </a:solidFill>
                <a:latin typeface="Aptos"/>
              </a:defRPr>
            </a:pPr>
            <a:r>
              <a:t>Liu 2020  ·  Daneshjou 2022  ·  Yan 2025  ·  Zhou 2024</a:t>
            </a:r>
            <a:br/>
            <a:r>
              <a:t>Lewis 2020  ·  Xiong 2024  ·  Zakka 2024  ·  WHO 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4069080"/>
            <a:ext cx="2606040" cy="107899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429768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7E67"/>
                </a:solidFill>
                <a:latin typeface="Aptos"/>
              </a:defRPr>
            </a:pPr>
            <a:r>
              <a:t>LITERATURE RUBRIC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4617720"/>
            <a:ext cx="2057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Paper → Method → Dataset → Findings → Performance →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88736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Peer-reviewed research is separated from surveys and organizational guidance.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Dermatology AI: methods and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05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papers establish the opportunity while highlighting generalization, skin-tone fairness, and diagnostic-risk concerns.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Deep-learning differential diagnosis from clinical skin images.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Clinical dermatology image datasets; internal and external evaluation.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feasibility of automated differential diagnosis across multiple skin conditions.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Strong reported image-classification results; clinician comparison included.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shift, image quality, subgroup coverage, and diagnosis-risk concerns.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Daneshjou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Science Advances (2022)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Evaluates dermatology AI across skin-tone groups using a curated clinical set.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DDI: Diverse Dermatology Images dataset; subgroup evaluation.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disparities were observed across skin-tone groups.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that aggregate performance can hide subgroup underperformance.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Limited dataset size and representativeness; benchmark fairness ≠ clinical fairness.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Yan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Medicine (2025)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Multimodal vision foundation model for clinical dermatology.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Multi-source dermatology image–text evaluations; model and clinician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Shows the promise of foundation-model transfer across dermatology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benchmark and clinician-oriented evaluations; exact metrics require full-text extraction.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Foundation-model opacity, dataset bias, hallucination, and prospective validation needs.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Zhou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Nature Communications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Pre-trained multimodal LLM, SkinGPT-4, for dermatology image–text reasoning.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Dermatology image–text data and diagnostic evaluation tasks.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Demonstrates multimodal generation for dermatological descriptions and predictions.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Reports diagnostic and generation evaluations; not evidence of autonomous clinical safety.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Possible hallucinations, limited generalization, and diagnosis may overstate capability.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595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RAG, clinical AI, and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06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B5CCD5"/>
                </a:solidFill>
                <a:latin typeface="Aptos"/>
              </a:defRPr>
            </a:pPr>
            <a:r>
              <a:t>These sources support DermTrack's grounded, privacy-conscious, non-diagnostic and human-supervised design.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993392"/>
          <a:ext cx="1118311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7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5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Dataset / evaluation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Major findings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Performance / evidence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Limitations</a:t>
                      </a:r>
                    </a:p>
                  </a:txBody>
                  <a:tcPr marL="73152" marR="54864" marT="36576" marB="36576" anchor="ctr">
                    <a:solidFill>
                      <a:srgbClr val="144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Lewis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NeurIPS (2020)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Retrieval-Augmented Generation combines a retriever with a generator.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Knowledge-intensive NLP benchmarks including open-domain QA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External evidence can complement parametric model knowledge.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RAG improved results on several knowledge-intensive tasks in the original study.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Retrieval quality, stale sources, irrelevant context, and unsupported synthesis.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Xiong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Findings of ACL (2024)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RAG with domain retrievers, knowledge bases, and context construction.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MedQA, MedMCQA, PubMedQA, and other medical QA benchmarks.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retrieval often improves QA, but configuration and corpus choice matter.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Benchmark accuracy improves in many RAG settings; not a clinical-safety metric.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Multiple-choice benchmarks do not measure triage, calibration, or patient harm.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Zakka et al.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NEJM AI (2024)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Almanac: LLM connected to retrieved medical references and clinical tools.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Medical QA benchmarks plus expert assessment.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Grounding can improve factual support and clinical answer quality.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Reported gains over standalone generation in evaluated medical tasks.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Corpus coverage, retrieval errors, limited expert evaluation, and no deployment validation.</a:t>
                      </a:r>
                    </a:p>
                  </a:txBody>
                  <a:tcPr marL="73152" marR="54864" marT="54864" marB="36576">
                    <a:solidFill>
                      <a:srgbClr val="10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WHO (2021)</a:t>
                      </a:r>
                    </a:p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Governance report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Ethical and governance framework for AI in health.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experimental dataset; evidence synthesis and expert consultation.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Calls for human control, transparency, privacy, equity, and accountability.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 numerical performance; provides safety and governance requirements.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defRPr sz="840">
                          <a:solidFill>
                            <a:srgbClr val="F6FAFC"/>
                          </a:solidFill>
                          <a:latin typeface="Aptos"/>
                        </a:defRPr>
                      </a:pPr>
                      <a:r>
                        <a:t>Normative guidance must be translated into concrete product controls and audits.</a:t>
                      </a:r>
                    </a:p>
                  </a:txBody>
                  <a:tcPr marL="73152" marR="54864" marT="54864" marB="36576">
                    <a:solidFill>
                      <a:srgbClr val="1333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5879592"/>
            <a:ext cx="10835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B5CCD5"/>
                </a:solidFill>
                <a:latin typeface="Aptos"/>
              </a:defRPr>
            </a:pPr>
            <a:r>
              <a:t>Comparison is based on the selected source's stated task and evaluation setting; benchmark success is not equivalent to clinical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What existing approaches still leave unresolved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07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The literature shows strong progress, but many systems solve only one part of the dermatology-support problem.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86968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Image-only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systems classify images but do not combine symptoms, history, medications, and patient context in one workflow.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17720" y="225856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Unsafe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Language models can produce fluent but unsupported medical content, even when the answer sounds confident.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20574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2" y="225856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2" y="232714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24544" y="228600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Benchmark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280720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High accuracy on static datasets does not prove safe triage, calibration, usability, or clinical effectiveness.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6968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Representation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Skin-tone imbalance, label quality, and dataset shift can reduce reliability for underrepresented 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17720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Evidence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Retrieval can fail through irrelevant, incomplete, stale, or weakly sourced medical information.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379476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2" y="3995928"/>
            <a:ext cx="420624" cy="420624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064508"/>
            <a:ext cx="42062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A192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24544" y="4023360"/>
            <a:ext cx="2368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6FAFC"/>
                </a:solidFill>
                <a:latin typeface="Aptos"/>
              </a:defRPr>
            </a:pPr>
            <a:r>
              <a:t>Continuity gap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75904" y="4544568"/>
            <a:ext cx="2889504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Many prototypes do not preserve structured, longitudinal consultation history for follow-up context.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815584"/>
            <a:ext cx="108356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F6FAFC"/>
                </a:solidFill>
                <a:latin typeface="Aptos"/>
              </a:defRPr>
            </a:pPr>
            <a:r>
              <a:t>Research gap: there is a need for a bounded end-to-end support workflow—not just a better image classifier or a larger language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DermTrack's response to the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08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gap by integrating complementary components while keeping the system non-diagnostic and human-supervised.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39112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40664" y="2039112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15798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Patient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13969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Structured intake + symptom/history fields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13969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Moves beyond image-only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06040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0664" y="2606040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724912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Grounded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706624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Local trusted RAG + source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706624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Reduces unsupported medical generation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72968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" y="3172968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291839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Current 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3273551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Conditional Tavily research with de-identified queries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73551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Adds bounded, optional web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39896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0664" y="3739896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858768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3840480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Red-flag triage + explicit non-diagnostic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3840480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Prioritizes escalation over false reassurance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306824"/>
            <a:ext cx="82296" cy="475488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40664" y="4306824"/>
            <a:ext cx="10789920" cy="475488"/>
          </a:xfrm>
          <a:prstGeom prst="rect">
            <a:avLst/>
          </a:prstGeom>
          <a:solidFill>
            <a:srgbClr val="102A43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4425696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23C2B0"/>
                </a:solidFill>
                <a:latin typeface="Aptos"/>
              </a:defRPr>
            </a:pPr>
            <a:r>
              <a:t>Continuity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4407408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MongoDB consultation records + GridFS images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407408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Preserves organized longitudinal context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873752"/>
            <a:ext cx="82296" cy="475488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40664" y="4873752"/>
            <a:ext cx="10789920" cy="475488"/>
          </a:xfrm>
          <a:prstGeom prst="rect">
            <a:avLst/>
          </a:prstGeom>
          <a:solidFill>
            <a:srgbClr val="13334C"/>
          </a:solidFill>
          <a:ln w="635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0120" y="4992624"/>
            <a:ext cx="1965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7E67"/>
                </a:solidFill>
                <a:latin typeface="Aptos"/>
              </a:defRPr>
            </a:pPr>
            <a:r>
              <a:t>Responsible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974336"/>
            <a:ext cx="35204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6FAFC"/>
                </a:solidFill>
                <a:latin typeface="Aptos"/>
              </a:defRPr>
            </a:pPr>
            <a:r>
              <a:t>Human review, privacy controls, and audit-ready state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974336"/>
            <a:ext cx="40690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B5CCD5"/>
                </a:solidFill>
                <a:latin typeface="Aptos"/>
              </a:defRPr>
            </a:pPr>
            <a:r>
              <a:t>Supports evaluation before clinical claims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650992"/>
            <a:ext cx="10881360" cy="530352"/>
          </a:xfrm>
          <a:prstGeom prst="roundRect">
            <a:avLst/>
          </a:prstGeom>
          <a:solidFill>
            <a:srgbClr val="363140"/>
          </a:solidFill>
          <a:ln>
            <a:solidFill>
              <a:srgbClr val="6F5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2688" y="5797296"/>
            <a:ext cx="10332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6FAFC"/>
                </a:solidFill>
                <a:latin typeface="Aptos"/>
              </a:defRPr>
            </a:pPr>
            <a:r>
              <a:t>Contribution boundary: DermTrack is a research prototype for safer information support—not a validated diagnostic or treatment 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A bounded, grounded, human-supervised support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09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DermTrack addresses the identified gap by combining multimodal intake, safety triage, trusted evidence retrieval, and persistent consultation context in one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INPUT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Structured patient details</a:t>
            </a:r>
            <a:br/>
            <a:r>
              <a:t>Optional image upload</a:t>
            </a:r>
            <a:br/>
            <a:r>
              <a:t>Audio transcription through Deepgram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73152" cy="150876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REASONING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Gemini image observations</a:t>
            </a:r>
            <a:br/>
            <a:r>
              <a:t>Safety red-flag triage</a:t>
            </a:r>
            <a:br/>
            <a:r>
              <a:t>LangGraph orchestration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148840"/>
            <a:ext cx="3401568" cy="15087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19872" y="2148840"/>
            <a:ext cx="73152" cy="150876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235000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EVIDENCE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715768"/>
            <a:ext cx="2962656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Local RAG from trusted sources</a:t>
            </a:r>
            <a:br/>
            <a:r>
              <a:t>ChromaDB or Atlas vector search</a:t>
            </a:r>
            <a:br/>
            <a:r>
              <a:t>Conditional Tavily research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96512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27264" y="2880360"/>
            <a:ext cx="256032" cy="0"/>
          </a:xfrm>
          <a:prstGeom prst="line">
            <a:avLst/>
          </a:prstGeom>
          <a:ln w="27940">
            <a:solidFill>
              <a:srgbClr val="FF7E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58368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Non-diagnostic language</a:t>
            </a:r>
            <a:br/>
            <a:r>
              <a:t>No invented prescriptions</a:t>
            </a:r>
            <a:br/>
            <a:r>
              <a:t>Escalation when warning signs appear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73152" cy="1417320"/>
          </a:xfrm>
          <a:prstGeom prst="rect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3C2B0"/>
                </a:solidFill>
                <a:latin typeface="Aptos"/>
              </a:defRPr>
            </a:pPr>
            <a:r>
              <a:t>RESPONSE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Evidence-linked educational response</a:t>
            </a:r>
            <a:br/>
            <a:r>
              <a:t>Uncertainty-aware wording</a:t>
            </a:r>
            <a:br/>
            <a:r>
              <a:t>Human professional remains responsible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2" y="4114800"/>
            <a:ext cx="3401568" cy="141732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19872" y="4114800"/>
            <a:ext cx="73152" cy="1417320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75904" y="4315968"/>
            <a:ext cx="2962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7E67"/>
                </a:solidFill>
                <a:latin typeface="Aptos"/>
              </a:defRPr>
            </a:pPr>
            <a:r>
              <a:t>PERSISTENCE LAYER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904" y="4681728"/>
            <a:ext cx="296265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MongoDB consultation records</a:t>
            </a:r>
            <a:br/>
            <a:r>
              <a:t>GridFS image storage</a:t>
            </a:r>
            <a:br/>
            <a:r>
              <a:t>Longitudinal patient context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The proposed solution is an integrated research prototype, not a replacement for clinical diagnosis or treatment.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42062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8961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6FAFC"/>
                </a:solidFill>
                <a:latin typeface="Aptos Display"/>
              </a:defRPr>
            </a:pPr>
            <a:r>
              <a:t>End-to-end solution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4754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B5CCD5"/>
                </a:solidFill>
                <a:latin typeface="Aptos"/>
              </a:defRPr>
            </a:pPr>
            <a:r>
              <a:t>010  /  DERMTRACK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99032"/>
            <a:ext cx="658368" cy="54864"/>
          </a:xfrm>
          <a:prstGeom prst="rect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45336"/>
            <a:ext cx="10698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B5CCD5"/>
                </a:solidFill>
                <a:latin typeface="Aptos"/>
              </a:defRPr>
            </a:pPr>
            <a:r>
              <a:t>Each stage is bounded, testable, and designed to preserve safety and evidence provenance.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07007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Patient intake</a:t>
            </a:r>
            <a:br/>
            <a:r>
              <a:t>Text / audio / image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23744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72384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72384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0903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Validate fields</a:t>
            </a:r>
            <a:br/>
            <a:r>
              <a:t>Transcribe audio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96511" y="3108960"/>
            <a:ext cx="237745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89120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937759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59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Analyze image</a:t>
            </a:r>
            <a:br/>
            <a:r>
              <a:t>Describe visible features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61888" y="3108960"/>
            <a:ext cx="237743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54496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803136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03136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1656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Check red flags</a:t>
            </a:r>
            <a:br/>
            <a:r>
              <a:t>Escalate urgent cases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827264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19872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668512" y="2441448"/>
            <a:ext cx="475488" cy="475488"/>
          </a:xfrm>
          <a:prstGeom prst="ellipse">
            <a:avLst/>
          </a:prstGeom>
          <a:solidFill>
            <a:srgbClr val="23C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68512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Ground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2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Retrieve trusted sources</a:t>
            </a:r>
            <a:br/>
            <a:r>
              <a:t>Research only when needed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92640" y="3108960"/>
            <a:ext cx="237744" cy="0"/>
          </a:xfrm>
          <a:prstGeom prst="line">
            <a:avLst/>
          </a:prstGeom>
          <a:ln w="20320">
            <a:solidFill>
              <a:srgbClr val="23C2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85248" y="2240280"/>
            <a:ext cx="1572768" cy="1737360"/>
          </a:xfrm>
          <a:prstGeom prst="roundRect">
            <a:avLst/>
          </a:prstGeom>
          <a:solidFill>
            <a:srgbClr val="102A43"/>
          </a:solidFill>
          <a:ln w="12700">
            <a:solidFill>
              <a:srgbClr val="345B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533888" y="2441448"/>
            <a:ext cx="475488" cy="475488"/>
          </a:xfrm>
          <a:prstGeom prst="ellipse">
            <a:avLst/>
          </a:prstGeom>
          <a:solidFill>
            <a:srgbClr val="FF7E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533888" y="2560320"/>
            <a:ext cx="47548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A192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3090672"/>
            <a:ext cx="129844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6FAFC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22408" y="3438144"/>
            <a:ext cx="129844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B5CCD5"/>
                </a:solidFill>
                <a:latin typeface="Aptos"/>
              </a:defRPr>
            </a:pPr>
            <a:r>
              <a:t>Generate bounded answer</a:t>
            </a:r>
            <a:br/>
            <a:r>
              <a:t>Persist consultation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434840"/>
            <a:ext cx="10881360" cy="1005840"/>
          </a:xfrm>
          <a:prstGeom prst="roundRect">
            <a:avLst/>
          </a:prstGeom>
          <a:solidFill>
            <a:srgbClr val="144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2688" y="4663440"/>
            <a:ext cx="1920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3C2B0"/>
                </a:solidFill>
                <a:latin typeface="Aptos"/>
              </a:defRPr>
            </a:pPr>
            <a:r>
              <a:t>IMPLEMENTATION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4636008"/>
            <a:ext cx="8138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6FAFC"/>
                </a:solidFill>
                <a:latin typeface="Aptos"/>
              </a:defRPr>
            </a:pPr>
            <a:r>
              <a:t>FastAPI  ·  LangGraph  ·  Gemini Vision  ·  Deepgram  ·  ChromaDB / Atlas  ·  Tavily  ·  MongoDB + GridFS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852160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B5CCD5"/>
                </a:solidFill>
                <a:latin typeface="Aptos"/>
              </a:defRPr>
            </a:pPr>
            <a:r>
              <a:t>Research contribution: a single workflow connects multimodal context, safety checks, evidence retrieval, and longitudinal persistence.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1634</Words>
  <Application>Microsoft Office PowerPoint</Application>
  <PresentationFormat>Widescreen</PresentationFormat>
  <Paragraphs>226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DermTrack Agent — Proposed Solution</dc:title>
  <dc:subject>Proposed solution and workflow slides</dc:subject>
  <dc:creator>Annam Akash and B. Hema</dc:creator>
  <cp:keywords/>
  <dc:description>generated using python-pptx</dc:description>
  <cp:lastModifiedBy>Akash Annam</cp:lastModifiedBy>
  <cp:revision>1</cp:revision>
  <dcterms:created xsi:type="dcterms:W3CDTF">2013-01-27T09:14:16Z</dcterms:created>
  <dcterms:modified xsi:type="dcterms:W3CDTF">2026-08-27T14:50:49Z</dcterms:modified>
  <cp:category/>
</cp:coreProperties>
</file>