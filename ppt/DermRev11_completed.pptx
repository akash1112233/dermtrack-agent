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70" r:id="rId13"/>
    <p:sldId id="266" r:id="rId14"/>
    <p:sldId id="267" r:id="rId15"/>
    <p:sldId id="271" r:id="rId16"/>
    <p:sldId id="26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46920" y="530352"/>
            <a:ext cx="1115568" cy="1115568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287000" y="1069848"/>
            <a:ext cx="1783080" cy="1783080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326880" y="4526280"/>
            <a:ext cx="914400" cy="914400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58400" y="3840480"/>
            <a:ext cx="1463040" cy="1463040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V="1">
            <a:off x="10195560" y="1417320"/>
            <a:ext cx="868680" cy="594360"/>
          </a:xfrm>
          <a:prstGeom prst="line">
            <a:avLst/>
          </a:prstGeom>
          <a:ln w="17780">
            <a:solidFill>
              <a:srgbClr val="345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064240" y="1417320"/>
            <a:ext cx="320040" cy="1005840"/>
          </a:xfrm>
          <a:prstGeom prst="line">
            <a:avLst/>
          </a:prstGeom>
          <a:ln w="17780">
            <a:solidFill>
              <a:srgbClr val="345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0607040" y="2423160"/>
            <a:ext cx="777240" cy="548640"/>
          </a:xfrm>
          <a:prstGeom prst="line">
            <a:avLst/>
          </a:prstGeom>
          <a:ln w="17780">
            <a:solidFill>
              <a:srgbClr val="345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607040" y="2971800"/>
            <a:ext cx="868680" cy="731520"/>
          </a:xfrm>
          <a:prstGeom prst="line">
            <a:avLst/>
          </a:prstGeom>
          <a:ln w="17780">
            <a:solidFill>
              <a:srgbClr val="345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131552" y="194767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000232" y="135331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320272" y="235915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543032" y="290779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411712" y="363931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" y="676656"/>
            <a:ext cx="109728" cy="105156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658368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C2B0"/>
                </a:solidFill>
                <a:latin typeface="Aptos"/>
              </a:defRPr>
            </a:pPr>
            <a:r>
              <a:t>PROJECT REVIEW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1188720"/>
            <a:ext cx="80467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200" b="1">
                <a:solidFill>
                  <a:srgbClr val="F6FAFC"/>
                </a:solidFill>
                <a:latin typeface="Aptos Display"/>
              </a:defRPr>
            </a:pPr>
            <a:r>
              <a:t>DermTrack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2212848"/>
            <a:ext cx="7680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B5CCD5"/>
                </a:solidFill>
                <a:latin typeface="Aptos"/>
              </a:defRPr>
            </a:pPr>
            <a:r>
              <a:t>AI-Assisted Non-Diagnostic</a:t>
            </a:r>
            <a:br/>
            <a:r>
              <a:t>Dermatology Support System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767328"/>
            <a:ext cx="8156448" cy="205740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4069080"/>
            <a:ext cx="288036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C2B0"/>
                </a:solidFill>
                <a:latin typeface="Aptos"/>
              </a:defRPr>
            </a:pPr>
            <a:r>
              <a:t>TEAM MEMBERS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343400"/>
            <a:ext cx="28803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6FAFC"/>
                </a:solidFill>
                <a:latin typeface="Aptos"/>
              </a:defRPr>
            </a:pPr>
            <a:r>
              <a:t>Annam Akash  ·  23MIA1112</a:t>
            </a:r>
            <a:br/>
            <a:r>
              <a:t>B. Hema  ·  23MIA1101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069080"/>
            <a:ext cx="361188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C2B0"/>
                </a:solidFill>
                <a:latin typeface="Aptos"/>
              </a:defRPr>
            </a:pPr>
            <a:r>
              <a:t>PROJECT GUIDE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343400"/>
            <a:ext cx="36118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6FAFC"/>
                </a:solidFill>
                <a:latin typeface="Aptos"/>
              </a:defRPr>
            </a:pPr>
            <a:r>
              <a:t>Dr. Abhishi Choudhury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46320"/>
            <a:ext cx="708660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C2B0"/>
                </a:solidFill>
                <a:latin typeface="Aptos"/>
              </a:defRPr>
            </a:pPr>
            <a:r>
              <a:t>DEPARTMENT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120640"/>
            <a:ext cx="70866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6FAFC"/>
                </a:solidFill>
                <a:latin typeface="Aptos"/>
              </a:defRPr>
            </a:pPr>
            <a:r>
              <a:t>Integrated M.Tech CSE (BA)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6144768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2026  /  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PROBLEM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503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6FAFC"/>
                </a:solidFill>
                <a:latin typeface="Aptos Display"/>
              </a:defRPr>
            </a:pPr>
            <a:r>
              <a:t>The gap DermTrack addresses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02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623560" cy="184708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THE CORE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59152"/>
            <a:ext cx="4983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6FAFC"/>
                </a:solidFill>
                <a:latin typeface="Aptos"/>
              </a:defRPr>
            </a:pPr>
            <a:r>
              <a:t>People struggle to interpret skin symptoms and decide what to do next. Online information is often fragmented, hard to verify, and unsafe without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76479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6FAFC"/>
                </a:solidFill>
                <a:latin typeface="Aptos"/>
              </a:defRPr>
            </a:pPr>
            <a:r>
              <a:t>Why this is difficult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9984" y="2212848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194560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Unstructured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441448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Symptoms, history, and images arrive in different formats.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9984" y="2871215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852927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Evidence overload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3099815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Reliable medical information is scattered across sources.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9984" y="3529584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3511296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Safety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758183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A confident but unsupported answer can delay appropriate care.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9984" y="4187952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4169664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Limited continuity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4416552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Previous consultations and observations are hard to organize.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041648"/>
            <a:ext cx="10881360" cy="1234440"/>
          </a:xfrm>
          <a:prstGeom prst="rect">
            <a:avLst/>
          </a:prstGeom>
          <a:solidFill>
            <a:srgbClr val="144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315968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DERMTRACK'S 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251960"/>
            <a:ext cx="80924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Structured intake + optional image observations + safety triage + trusted retrieval + consultation history.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800600"/>
            <a:ext cx="8092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DEEDF0"/>
                </a:solidFill>
                <a:latin typeface="Aptos"/>
              </a:defRPr>
            </a:pPr>
            <a:r>
              <a:t>Supports informed next steps; it does not replace a dermatologist or issue prescriptions.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PROBLEM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503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6FAFC"/>
                </a:solidFill>
                <a:latin typeface="Aptos Display"/>
              </a:defRPr>
            </a:pPr>
            <a:r>
              <a:t>Who needs it—and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03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3337560" cy="1865376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1865376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75104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TARGET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2584" y="2231577"/>
            <a:ext cx="2880360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rPr dirty="0"/>
              <a:t>Patients seeking understandable guidance</a:t>
            </a:r>
            <a:endParaRPr lang="en-IN" dirty="0"/>
          </a:p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br>
              <a:rPr dirty="0"/>
            </a:br>
            <a:r>
              <a:rPr dirty="0"/>
              <a:t>Clinicians reviewing structured consultation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719072"/>
            <a:ext cx="3337560" cy="1865376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25696" y="1719072"/>
            <a:ext cx="82296" cy="1865376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1728" y="1975104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DOMAIN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340864"/>
            <a:ext cx="288036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AI-assisted dermatology support</a:t>
            </a:r>
            <a:br/>
            <a:br/>
            <a:r>
              <a:t>Text + optional skin images + medical knowledge retrieval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3024" y="1719072"/>
            <a:ext cx="3337560" cy="1865376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93024" y="1719072"/>
            <a:ext cx="82296" cy="1865376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49056" y="1975104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MOTIVATION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2340864"/>
            <a:ext cx="288036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Make first-line information more organized, explainable, privacy-conscious, and safety-aware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77639"/>
            <a:ext cx="5230368" cy="1417320"/>
          </a:xfrm>
          <a:prstGeom prst="roundRect">
            <a:avLst/>
          </a:prstGeom>
          <a:solidFill>
            <a:srgbClr val="144350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068161"/>
            <a:ext cx="22860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rPr dirty="0"/>
              <a:t>PRACTICAL RELEVANCE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73563"/>
            <a:ext cx="4130142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6FAFC"/>
                </a:solidFill>
                <a:latin typeface="Aptos"/>
              </a:defRPr>
            </a:pPr>
            <a:r>
              <a:rPr dirty="0"/>
              <a:t>A realistic workflow for collecting better consultation context, grounding answers in trusted sources, flagging warning signs, and preserving a usable history.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977639"/>
            <a:ext cx="5349240" cy="1417320"/>
          </a:xfrm>
          <a:prstGeom prst="roundRect">
            <a:avLst/>
          </a:prstGeom>
          <a:solidFill>
            <a:srgbClr val="363140"/>
          </a:solidFill>
          <a:ln w="12700">
            <a:solidFill>
              <a:srgbClr val="6F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19088" y="4073652"/>
            <a:ext cx="22860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rPr dirty="0"/>
              <a:t>EXPECTED 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4273563"/>
            <a:ext cx="4617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6FAFC"/>
                </a:solidFill>
                <a:latin typeface="Aptos"/>
              </a:defRPr>
            </a:pPr>
            <a:r>
              <a:rPr dirty="0"/>
              <a:t>Improve access to understandable, evidence-linked support; encourage earlier professional attention when red flags appear; and reduce unsupported, overconfident health responses.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" y="5897880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B5CCD5"/>
                </a:solidFill>
                <a:latin typeface="Aptos"/>
              </a:defRPr>
            </a:pPr>
            <a:r>
              <a:t>Expected impact is a design objective, not a claim of clinical effectiveness; validation with clinicians and real-world users remains future 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595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How the evidence was selected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04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B5CCD5"/>
                </a:solidFill>
                <a:latin typeface="Aptos"/>
              </a:defRPr>
            </a:pPr>
            <a:r>
              <a:t>The review connects DermTrack's implementation choices to research on dermatology AI, evidence grounding, fairness, and safe deployment.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3401568" cy="15087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148840"/>
            <a:ext cx="73152" cy="150876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2226564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rPr dirty="0"/>
              <a:t>01  DOMAIN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49396"/>
            <a:ext cx="2962656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rPr dirty="0"/>
              <a:t>Dermatology image AI and multimodal models</a:t>
            </a:r>
            <a:br>
              <a:rPr dirty="0"/>
            </a:br>
            <a:br>
              <a:rPr dirty="0"/>
            </a:br>
            <a:r>
              <a:rPr dirty="0"/>
              <a:t>Question: How well do image-based systems generalize?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48840"/>
            <a:ext cx="3401568" cy="15087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2148840"/>
            <a:ext cx="73152" cy="150876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08576" y="2226564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7E67"/>
                </a:solidFill>
                <a:latin typeface="Aptos"/>
              </a:defRPr>
            </a:pPr>
            <a:r>
              <a:rPr dirty="0"/>
              <a:t>02  SYSTEM 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449395"/>
            <a:ext cx="2962656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rPr dirty="0"/>
              <a:t>RAG and medical language models</a:t>
            </a:r>
            <a:br>
              <a:rPr dirty="0"/>
            </a:br>
            <a:br>
              <a:rPr dirty="0"/>
            </a:br>
            <a:r>
              <a:rPr dirty="0"/>
              <a:t>Question: How can responses be grounded in external knowledge?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2148840"/>
            <a:ext cx="3401568" cy="15087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19872" y="2148840"/>
            <a:ext cx="73152" cy="150876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49547" y="2226564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rPr dirty="0"/>
              <a:t>03  SAFETY + FAIRNESS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547" y="2436877"/>
            <a:ext cx="2962656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rPr dirty="0"/>
              <a:t>Bias, explainability, and governance</a:t>
            </a:r>
            <a:br>
              <a:rPr dirty="0"/>
            </a:br>
            <a:br>
              <a:rPr dirty="0"/>
            </a:br>
            <a:r>
              <a:rPr dirty="0"/>
              <a:t>Question: What must the system avoid claiming?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09651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SELECTED SOURCE 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407408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F6FAFC"/>
                </a:solidFill>
                <a:latin typeface="Aptos"/>
              </a:defRPr>
            </a:pPr>
            <a:r>
              <a:t>Liu 2020  ·  Daneshjou 2022  ·  Yan 2025  ·  Zhou 2024</a:t>
            </a:r>
            <a:br/>
            <a:r>
              <a:t>Lewis 2020  ·  Xiong 2024  ·  Zakka 2024  ·  WHO 2021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4069080"/>
            <a:ext cx="2606040" cy="1078992"/>
          </a:xfrm>
          <a:prstGeom prst="roundRect">
            <a:avLst/>
          </a:prstGeom>
          <a:solidFill>
            <a:srgbClr val="363140"/>
          </a:solidFill>
          <a:ln>
            <a:solidFill>
              <a:srgbClr val="6F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60845" y="4131922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LITERATURE RUBRIC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60845" y="4360277"/>
            <a:ext cx="2057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rPr dirty="0"/>
              <a:t>Paper → Method → Dataset → Findings → Performance → Limitations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888736"/>
            <a:ext cx="10835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B5CCD5"/>
                </a:solidFill>
                <a:latin typeface="Aptos"/>
              </a:defRPr>
            </a:pPr>
            <a:r>
              <a:t>Peer-reviewed research is separated from surveys and organizational guidance.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595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Dermatology AI: methods and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05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835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These papers establish the opportunity while highlighting generalization, skin-tone fairness, and diagnostic-risk concerns.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993392"/>
          <a:ext cx="11183112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95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237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Paper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Method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Dataset / evaluation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Major findings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Performance / evidence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Limitations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Liu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Nature Medicine (2020)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Deep-learning differential diagnosis from clinical skin images.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Clinical dermatology image datasets; internal and external evaluation.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Shows the feasibility of automated differential diagnosis across multiple skin conditions.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Strong reported image-classification results; clinician comparison included.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Dataset shift, image quality, subgroup coverage, and diagnosis-risk concerns.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Daneshjou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Science Advances (2022)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Evaluates dermatology AI across skin-tone groups using a curated clinical set.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DDI: Diverse Dermatology Images dataset; subgroup evaluation.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Performance disparities were observed across skin-tone groups.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Demonstrates that aggregate performance can hide subgroup underperformance.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Limited dataset size and representativeness; benchmark fairness ≠ clinical fairness.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Yan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Nature Medicine (2025)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Multimodal vision foundation model for clinical dermatology.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Multi-source dermatology image–text evaluations; model and clinician tasks.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Shows the promise of foundation-model transfer across dermatology tasks.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Reports benchmark and clinician-oriented evaluations; exact metrics require full-text extraction.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Foundation-model opacity, dataset bias, hallucination, and prospective validation needs.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Zhou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Nature Communications (2024)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Pre-trained multimodal LLM, SkinGPT-4, for dermatology image–text reasoning.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Dermatology image–text data and diagnostic evaluation tasks.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Demonstrates multimodal generation for dermatological descriptions and predictions.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Reports diagnostic and generation evaluations; not evidence of autonomous clinical safety.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Possible hallucinations, limited generalization, and diagnosis may overstate capability.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5879592"/>
            <a:ext cx="10835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B5CCD5"/>
                </a:solidFill>
                <a:latin typeface="Aptos"/>
              </a:defRPr>
            </a:pPr>
            <a:r>
              <a:t>Comparison is based on the selected source's stated task and evaluation setting; benchmark success is not equivalent to clinical validation.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595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RAG, clinical AI, and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06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835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These sources support DermTrack's grounded, privacy-conscious, non-diagnostic and human-supervised design.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993392"/>
          <a:ext cx="11183112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95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237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Paper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Method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Dataset / evaluation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Major findings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Performance / evidence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Limitations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Lewis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NeurIPS (2020)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Retrieval-Augmented Generation combines a retriever with a generator.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Knowledge-intensive NLP benchmarks including open-domain QA tasks.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External evidence can complement parametric model knowledge.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RAG improved results on several knowledge-intensive tasks in the original study.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Retrieval quality, stale sources, irrelevant context, and unsupported synthesis.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Xiong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Findings of ACL (2024)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Medical RAG with domain retrievers, knowledge bases, and context construction.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MedQA, MedMCQA, PubMedQA, and other medical QA benchmarks.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Medical retrieval often improves QA, but configuration and corpus choice matter.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Benchmark accuracy improves in many RAG settings; not a clinical-safety metric.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Multiple-choice benchmarks do not measure triage, calibration, or patient harm.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Zakka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NEJM AI (2024)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Almanac: LLM connected to retrieved medical references and clinical tools.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Medical QA benchmarks plus expert assessment.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Grounding can improve factual support and clinical answer quality.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Reported gains over standalone generation in evaluated medical tasks.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Corpus coverage, retrieval errors, limited expert evaluation, and no deployment validation.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WHO (2021)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Governance report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Ethical and governance framework for AI in health.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No experimental dataset; evidence synthesis and expert consultation.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Calls for human control, transparency, privacy, equity, and accountability.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No numerical performance; provides safety and governance requirements.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Normative guidance must be translated into concrete product controls and audits.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5879592"/>
            <a:ext cx="10835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B5CCD5"/>
                </a:solidFill>
                <a:latin typeface="Aptos"/>
              </a:defRPr>
            </a:pPr>
            <a:r>
              <a:t>Comparison is based on the selected source's stated task and evaluation setting; benchmark success is not equivalent to clinical validation.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961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What existing approaches still leave unresolved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07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CCD5"/>
                </a:solidFill>
                <a:latin typeface="Aptos"/>
              </a:defRPr>
            </a:pPr>
            <a:r>
              <a:t>The literature shows strong progress, but many systems solve only one part of the dermatology-support problem.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86968" y="2258568"/>
            <a:ext cx="420624" cy="420624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327148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A192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286000"/>
            <a:ext cx="2368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Image-only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07208"/>
            <a:ext cx="2889504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Many systems classify images but do not combine symptoms, history, medications, and patient context in one workflow.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5740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17720" y="2258568"/>
            <a:ext cx="420624" cy="420624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2327148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A192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2286000"/>
            <a:ext cx="2368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Unsafe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807208"/>
            <a:ext cx="2889504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Language models can produce fluent but unsupported medical content, even when the answer sounds confident.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205740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348472" y="2258568"/>
            <a:ext cx="420624" cy="420624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48472" y="2327148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A192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24544" y="2286000"/>
            <a:ext cx="2368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Benchmark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2807208"/>
            <a:ext cx="2889504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High accuracy on static datasets does not prove safe triage, calibration, usability, or clinical effectiveness.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9476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86968" y="3995928"/>
            <a:ext cx="420624" cy="420624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6968" y="4064508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A192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023360"/>
            <a:ext cx="2368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Representation gap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544568"/>
            <a:ext cx="2889504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Skin-tone imbalance, label quality, and dataset shift can reduce reliability for underrepresented groups.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379476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617720" y="3995928"/>
            <a:ext cx="420624" cy="420624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17720" y="4064508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A192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93792" y="4023360"/>
            <a:ext cx="2368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Evidence gap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5152" y="4544568"/>
            <a:ext cx="2889504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Retrieval can fail through irrelevant, incomplete, stale, or weakly sourced medical information.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2" y="379476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348472" y="3995928"/>
            <a:ext cx="420624" cy="420624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48472" y="4064508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A192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24544" y="4023360"/>
            <a:ext cx="2368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Continuity gap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75904" y="4544568"/>
            <a:ext cx="2889504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Many prototypes do not preserve structured, longitudinal consultation history for follow-up context.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815584"/>
            <a:ext cx="10835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F6FAFC"/>
                </a:solidFill>
                <a:latin typeface="Aptos"/>
              </a:defRPr>
            </a:pPr>
            <a:r>
              <a:t>Research gap: there is a need for a bounded end-to-end support workflow—not just a better image classifier or a larger language 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961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DermTrack's response to the 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08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CCD5"/>
                </a:solidFill>
                <a:latin typeface="Aptos"/>
              </a:defRPr>
            </a:pPr>
            <a:r>
              <a:t>DermTrack addresses the gap by integrating complementary components while keeping the system non-diagnostic and human-supervised.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39112"/>
            <a:ext cx="82296" cy="475488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0664" y="2039112"/>
            <a:ext cx="10789920" cy="475488"/>
          </a:xfrm>
          <a:prstGeom prst="rect">
            <a:avLst/>
          </a:prstGeom>
          <a:solidFill>
            <a:srgbClr val="102A43"/>
          </a:solidFill>
          <a:ln w="635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157984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23C2B0"/>
                </a:solidFill>
                <a:latin typeface="Aptos"/>
              </a:defRPr>
            </a:pPr>
            <a:r>
              <a:t>Patient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139696"/>
            <a:ext cx="3520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Structured intake + symptom/history fields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139696"/>
            <a:ext cx="4069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Moves beyond image-only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606040"/>
            <a:ext cx="82296" cy="475488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0664" y="2606040"/>
            <a:ext cx="10789920" cy="475488"/>
          </a:xfrm>
          <a:prstGeom prst="rect">
            <a:avLst/>
          </a:prstGeom>
          <a:solidFill>
            <a:srgbClr val="13334C"/>
          </a:solidFill>
          <a:ln w="635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2724912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F7E67"/>
                </a:solidFill>
                <a:latin typeface="Aptos"/>
              </a:defRPr>
            </a:pPr>
            <a:r>
              <a:t>Grounded answers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706624"/>
            <a:ext cx="3520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Local trusted RAG + source metadata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706624"/>
            <a:ext cx="4069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Reduces unsupported medical generation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172968"/>
            <a:ext cx="82296" cy="475488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0664" y="3172968"/>
            <a:ext cx="10789920" cy="475488"/>
          </a:xfrm>
          <a:prstGeom prst="rect">
            <a:avLst/>
          </a:prstGeom>
          <a:solidFill>
            <a:srgbClr val="102A43"/>
          </a:solidFill>
          <a:ln w="635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291839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23C2B0"/>
                </a:solidFill>
                <a:latin typeface="Aptos"/>
              </a:defRPr>
            </a:pPr>
            <a:r>
              <a:t>Current information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3191256"/>
            <a:ext cx="3520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rPr dirty="0"/>
              <a:t>Conditional </a:t>
            </a:r>
            <a:r>
              <a:rPr dirty="0" err="1"/>
              <a:t>Tavily</a:t>
            </a:r>
            <a:r>
              <a:rPr dirty="0"/>
              <a:t> research with de-identified queries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273551"/>
            <a:ext cx="4069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Adds bounded, optional web evidence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739896"/>
            <a:ext cx="82296" cy="475488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0664" y="3739896"/>
            <a:ext cx="10789920" cy="475488"/>
          </a:xfrm>
          <a:prstGeom prst="rect">
            <a:avLst/>
          </a:prstGeom>
          <a:solidFill>
            <a:srgbClr val="13334C"/>
          </a:solidFill>
          <a:ln w="635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3858768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F7E67"/>
                </a:solidFill>
                <a:latin typeface="Aptos"/>
              </a:defRPr>
            </a:pPr>
            <a:r>
              <a:t>Safety first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3840480"/>
            <a:ext cx="3520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Red-flag triage + explicit non-diagnostic boundaries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3840480"/>
            <a:ext cx="4069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Prioritizes escalation over false reassurance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306824"/>
            <a:ext cx="82296" cy="475488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40664" y="4306824"/>
            <a:ext cx="10789920" cy="475488"/>
          </a:xfrm>
          <a:prstGeom prst="rect">
            <a:avLst/>
          </a:prstGeom>
          <a:solidFill>
            <a:srgbClr val="102A43"/>
          </a:solidFill>
          <a:ln w="635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" y="4425696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23C2B0"/>
                </a:solidFill>
                <a:latin typeface="Aptos"/>
              </a:defRPr>
            </a:pPr>
            <a:r>
              <a:t>Continuity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4680" y="4407408"/>
            <a:ext cx="3520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MongoDB consultation records + GridFS images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4407408"/>
            <a:ext cx="4069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Preserves organized longitudinal context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873752"/>
            <a:ext cx="82296" cy="475488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40664" y="4873752"/>
            <a:ext cx="10789920" cy="475488"/>
          </a:xfrm>
          <a:prstGeom prst="rect">
            <a:avLst/>
          </a:prstGeom>
          <a:solidFill>
            <a:srgbClr val="13334C"/>
          </a:solidFill>
          <a:ln w="635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0120" y="4992624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F7E67"/>
                </a:solidFill>
                <a:latin typeface="Aptos"/>
              </a:defRPr>
            </a:pPr>
            <a:r>
              <a:t>Responsible deployment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54680" y="4969764"/>
            <a:ext cx="3520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rPr dirty="0"/>
              <a:t>Human review, privacy controls, and audit-ready state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4974336"/>
            <a:ext cx="4069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Supports evaluation before clinical claims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650992"/>
            <a:ext cx="10881360" cy="530352"/>
          </a:xfrm>
          <a:prstGeom prst="roundRect">
            <a:avLst/>
          </a:prstGeom>
          <a:solidFill>
            <a:srgbClr val="363140"/>
          </a:solidFill>
          <a:ln>
            <a:solidFill>
              <a:srgbClr val="6F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32688" y="5797296"/>
            <a:ext cx="10332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6FAFC"/>
                </a:solidFill>
                <a:latin typeface="Aptos"/>
              </a:defRPr>
            </a:pPr>
            <a:r>
              <a:t>Contribution boundary: DermTrack is a research prototype for safer information support—not a validated diagnostic or treatment system.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961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A bounded, grounded, human-supervised support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09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CCD5"/>
                </a:solidFill>
                <a:latin typeface="Aptos"/>
              </a:defRPr>
            </a:pPr>
            <a:r>
              <a:t>DermTrack addresses the identified gap by combining multimodal intake, safety triage, trusted evidence retrieval, and persistent consultation context in one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3401568" cy="15087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148840"/>
            <a:ext cx="73152" cy="150876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350008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INPUT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01591"/>
            <a:ext cx="2962656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rPr dirty="0"/>
              <a:t>Structured patient details</a:t>
            </a:r>
            <a:br>
              <a:rPr dirty="0"/>
            </a:br>
            <a:r>
              <a:rPr dirty="0"/>
              <a:t>Optional image upload</a:t>
            </a:r>
            <a:br>
              <a:rPr dirty="0"/>
            </a:br>
            <a:r>
              <a:rPr dirty="0"/>
              <a:t>Audio transcription through </a:t>
            </a:r>
            <a:r>
              <a:rPr dirty="0" err="1"/>
              <a:t>Deepgram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4389120" y="2148840"/>
            <a:ext cx="3401568" cy="15087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2148840"/>
            <a:ext cx="73152" cy="150876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45152" y="2350008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7E67"/>
                </a:solidFill>
                <a:latin typeface="Aptos"/>
              </a:defRPr>
            </a:pPr>
            <a:r>
              <a:t>REASONING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601591"/>
            <a:ext cx="2962656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rPr dirty="0"/>
              <a:t>Gemini image observations</a:t>
            </a:r>
            <a:br>
              <a:rPr dirty="0"/>
            </a:br>
            <a:r>
              <a:rPr dirty="0"/>
              <a:t>Safety red-flag triage</a:t>
            </a:r>
            <a:br>
              <a:rPr dirty="0"/>
            </a:br>
            <a:r>
              <a:rPr dirty="0" err="1"/>
              <a:t>LangGraph</a:t>
            </a:r>
            <a:r>
              <a:rPr dirty="0"/>
              <a:t> orchestration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2148840"/>
            <a:ext cx="3401568" cy="15087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19872" y="2148840"/>
            <a:ext cx="73152" cy="150876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75904" y="2350008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EVIDENCE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587752"/>
            <a:ext cx="2962656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rPr dirty="0"/>
              <a:t>Local RAG from trusted sources</a:t>
            </a:r>
            <a:br>
              <a:rPr dirty="0"/>
            </a:br>
            <a:r>
              <a:rPr dirty="0" err="1"/>
              <a:t>ChromaDB</a:t>
            </a:r>
            <a:r>
              <a:rPr dirty="0"/>
              <a:t> or Atlas vector search</a:t>
            </a:r>
            <a:br>
              <a:rPr dirty="0"/>
            </a:br>
            <a:r>
              <a:rPr dirty="0"/>
              <a:t>Conditional </a:t>
            </a:r>
            <a:r>
              <a:rPr dirty="0" err="1"/>
              <a:t>Tavily</a:t>
            </a:r>
            <a:r>
              <a:rPr dirty="0"/>
              <a:t> research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96512" y="2880360"/>
            <a:ext cx="256032" cy="0"/>
          </a:xfrm>
          <a:prstGeom prst="line">
            <a:avLst/>
          </a:prstGeom>
          <a:ln w="27940">
            <a:solidFill>
              <a:srgbClr val="FF7E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827264" y="2880360"/>
            <a:ext cx="256032" cy="0"/>
          </a:xfrm>
          <a:prstGeom prst="line">
            <a:avLst/>
          </a:prstGeom>
          <a:ln w="27940">
            <a:solidFill>
              <a:srgbClr val="FF7E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58368" y="411480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4114800"/>
            <a:ext cx="73152" cy="141732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315968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7E67"/>
                </a:solidFill>
                <a:latin typeface="Aptos"/>
              </a:defRPr>
            </a:pPr>
            <a:r>
              <a:t>SAFETY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530852"/>
            <a:ext cx="296265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rPr dirty="0"/>
              <a:t>Non-diagnostic language</a:t>
            </a:r>
            <a:br>
              <a:rPr dirty="0"/>
            </a:br>
            <a:r>
              <a:rPr dirty="0"/>
              <a:t>No invented prescriptions</a:t>
            </a:r>
            <a:br>
              <a:rPr dirty="0"/>
            </a:br>
            <a:r>
              <a:rPr dirty="0"/>
              <a:t>Escalation when warning signs appear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411480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89120" y="4114800"/>
            <a:ext cx="73152" cy="141732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45152" y="4233671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rPr dirty="0"/>
              <a:t>RESPONSE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2" y="4436773"/>
            <a:ext cx="296265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rPr dirty="0"/>
              <a:t>Evidence-linked educational response</a:t>
            </a:r>
            <a:br>
              <a:rPr dirty="0"/>
            </a:br>
            <a:r>
              <a:rPr dirty="0"/>
              <a:t>Uncertainty-aware wording</a:t>
            </a:r>
            <a:br>
              <a:rPr dirty="0"/>
            </a:br>
            <a:r>
              <a:rPr dirty="0"/>
              <a:t>Human professional remains responsible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19872" y="411480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19872" y="4114800"/>
            <a:ext cx="73152" cy="141732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75904" y="4178808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7E67"/>
                </a:solidFill>
                <a:latin typeface="Aptos"/>
              </a:defRPr>
            </a:pPr>
            <a:r>
              <a:t>PERSISTENCE LAYER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5904" y="4448310"/>
            <a:ext cx="296265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rPr dirty="0"/>
              <a:t>MongoDB consultation records</a:t>
            </a:r>
            <a:br>
              <a:rPr dirty="0"/>
            </a:br>
            <a:r>
              <a:rPr dirty="0" err="1"/>
              <a:t>GridFS</a:t>
            </a:r>
            <a:r>
              <a:rPr dirty="0"/>
              <a:t> image storage</a:t>
            </a:r>
            <a:br>
              <a:rPr dirty="0"/>
            </a:br>
            <a:r>
              <a:rPr dirty="0"/>
              <a:t>Longitudinal patient 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852160"/>
            <a:ext cx="10835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B5CCD5"/>
                </a:solidFill>
                <a:latin typeface="Aptos"/>
              </a:defRPr>
            </a:pPr>
            <a:r>
              <a:t>The proposed solution is an integrated research prototype, not a replacement for clinical diagnosis or treatment.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961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End-to-end solution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10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CCD5"/>
                </a:solidFill>
                <a:latin typeface="Aptos"/>
              </a:defRPr>
            </a:pPr>
            <a:r>
              <a:t>Each stage is bounded, testable, and designed to preserve safety and evidence provenance.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40280"/>
            <a:ext cx="1572768" cy="17373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07007" y="2441448"/>
            <a:ext cx="475488" cy="475488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07007" y="2560320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A192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090672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6FAFC"/>
                </a:solidFill>
                <a:latin typeface="Aptos"/>
              </a:defRPr>
            </a:pPr>
            <a:r>
              <a:t>Collect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438144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5CCD5"/>
                </a:solidFill>
                <a:latin typeface="Aptos"/>
              </a:defRPr>
            </a:pPr>
            <a:r>
              <a:t>Patient intake</a:t>
            </a:r>
            <a:br/>
            <a:r>
              <a:t>Text / audio / image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1136" y="3108960"/>
            <a:ext cx="237744" cy="0"/>
          </a:xfrm>
          <a:prstGeom prst="line">
            <a:avLst/>
          </a:prstGeom>
          <a:ln w="20320">
            <a:solidFill>
              <a:srgbClr val="23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523744" y="2240280"/>
            <a:ext cx="1572768" cy="17373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072384" y="2441448"/>
            <a:ext cx="475488" cy="475488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72384" y="2560320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A192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0903" y="3090672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6FAFC"/>
                </a:solidFill>
                <a:latin typeface="Aptos"/>
              </a:defRPr>
            </a:pPr>
            <a:r>
              <a:t>Normalize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60903" y="3438144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5CCD5"/>
                </a:solidFill>
                <a:latin typeface="Aptos"/>
              </a:defRPr>
            </a:pPr>
            <a:r>
              <a:t>Validate fields</a:t>
            </a:r>
            <a:br/>
            <a:r>
              <a:t>Transcribe audio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096511" y="3108960"/>
            <a:ext cx="237745" cy="0"/>
          </a:xfrm>
          <a:prstGeom prst="line">
            <a:avLst/>
          </a:prstGeom>
          <a:ln w="20320">
            <a:solidFill>
              <a:srgbClr val="23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89120" y="2240280"/>
            <a:ext cx="1572768" cy="17373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937759" y="2441448"/>
            <a:ext cx="475488" cy="475488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37759" y="2560320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A192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090672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6FAFC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438144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5CCD5"/>
                </a:solidFill>
                <a:latin typeface="Aptos"/>
              </a:defRPr>
            </a:pPr>
            <a:r>
              <a:t>Analyze image</a:t>
            </a:r>
            <a:br/>
            <a:r>
              <a:t>Describe visible features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61888" y="3108960"/>
            <a:ext cx="237743" cy="0"/>
          </a:xfrm>
          <a:prstGeom prst="line">
            <a:avLst/>
          </a:prstGeom>
          <a:ln w="20320">
            <a:solidFill>
              <a:srgbClr val="23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54496" y="2240280"/>
            <a:ext cx="1572768" cy="17373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803136" y="2441448"/>
            <a:ext cx="475488" cy="475488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03136" y="2560320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A192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6" y="3090672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6FAFC"/>
                </a:solidFill>
                <a:latin typeface="Aptos"/>
              </a:defRPr>
            </a:pPr>
            <a:r>
              <a:t>Triage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656" y="3438144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5CCD5"/>
                </a:solidFill>
                <a:latin typeface="Aptos"/>
              </a:defRPr>
            </a:pPr>
            <a:r>
              <a:t>Check red flags</a:t>
            </a:r>
            <a:br/>
            <a:r>
              <a:t>Escalate urgent cases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827264" y="3108960"/>
            <a:ext cx="237744" cy="0"/>
          </a:xfrm>
          <a:prstGeom prst="line">
            <a:avLst/>
          </a:prstGeom>
          <a:ln w="20320">
            <a:solidFill>
              <a:srgbClr val="23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119872" y="2240280"/>
            <a:ext cx="1572768" cy="17373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668512" y="2441448"/>
            <a:ext cx="475488" cy="475488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68512" y="2560320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A192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7032" y="3090672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6FAFC"/>
                </a:solidFill>
                <a:latin typeface="Aptos"/>
              </a:defRPr>
            </a:pPr>
            <a:r>
              <a:t>Ground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7032" y="3438144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5CCD5"/>
                </a:solidFill>
                <a:latin typeface="Aptos"/>
              </a:defRPr>
            </a:pPr>
            <a:r>
              <a:rPr dirty="0"/>
              <a:t>Retrieve trusted sources</a:t>
            </a:r>
            <a:br>
              <a:rPr dirty="0"/>
            </a:br>
            <a:r>
              <a:rPr dirty="0"/>
              <a:t>Research only when needed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692640" y="3108960"/>
            <a:ext cx="237744" cy="0"/>
          </a:xfrm>
          <a:prstGeom prst="line">
            <a:avLst/>
          </a:prstGeom>
          <a:ln w="20320">
            <a:solidFill>
              <a:srgbClr val="23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985248" y="2240280"/>
            <a:ext cx="1572768" cy="17373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533888" y="2441448"/>
            <a:ext cx="475488" cy="475488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533888" y="2560320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A192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22408" y="3090672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6FAFC"/>
                </a:solidFill>
                <a:latin typeface="Aptos"/>
              </a:defRPr>
            </a:pPr>
            <a:r>
              <a:t>Respond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22408" y="3438144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5CCD5"/>
                </a:solidFill>
                <a:latin typeface="Aptos"/>
              </a:defRPr>
            </a:pPr>
            <a:r>
              <a:t>Generate bounded answer</a:t>
            </a:r>
            <a:br/>
            <a:r>
              <a:t>Persist consultation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4434840"/>
            <a:ext cx="10881360" cy="1005840"/>
          </a:xfrm>
          <a:prstGeom prst="roundRect">
            <a:avLst/>
          </a:prstGeom>
          <a:solidFill>
            <a:srgbClr val="144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32688" y="4663440"/>
            <a:ext cx="19202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IMPLEMENTATION STACK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88920" y="4636008"/>
            <a:ext cx="8138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t>FastAPI  ·  LangGraph  ·  Gemini Vision  ·  Deepgram  ·  ChromaDB / Atlas  ·  Tavily  ·  MongoDB + GridFS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5852160"/>
            <a:ext cx="10835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B5CCD5"/>
                </a:solidFill>
                <a:latin typeface="Aptos"/>
              </a:defRPr>
            </a:pPr>
            <a:r>
              <a:t>Research contribution: a single workflow connects multimodal context, safety checks, evidence retrieval, and longitudinal persistence.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REVIEW 1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545336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CCD5"/>
                </a:solidFill>
                <a:latin typeface="Aptos"/>
              </a:defRPr>
            </a:pPr>
            <a:r>
              <a:t>The objectives translate the identified research gap into measurable system-development goals.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57400"/>
            <a:ext cx="5230368" cy="32461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2057400"/>
            <a:ext cx="82296" cy="324612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258568"/>
            <a:ext cx="47274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3C2B0"/>
                </a:solidFill>
                <a:latin typeface="Aptos"/>
              </a:defRPr>
            </a:pPr>
            <a:r>
              <a:t>SYSTEM OBJECTIVES</a:t>
            </a:r>
          </a:p>
        </p:txBody>
      </p:sp>
      <p:sp>
        <p:nvSpPr>
          <p:cNvPr id="9" name="Oval 8"/>
          <p:cNvSpPr/>
          <p:nvPr/>
        </p:nvSpPr>
        <p:spPr>
          <a:xfrm>
            <a:off x="969264" y="2752344"/>
            <a:ext cx="82296" cy="8229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19" y="2679192"/>
            <a:ext cx="44531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F6FAFC"/>
                </a:solidFill>
                <a:latin typeface="Aptos"/>
              </a:defRPr>
            </a:pPr>
            <a:r>
              <a:t>Build a non-diagnostic dermatology-support prototype.</a:t>
            </a:r>
          </a:p>
        </p:txBody>
      </p:sp>
      <p:sp>
        <p:nvSpPr>
          <p:cNvPr id="11" name="Oval 10"/>
          <p:cNvSpPr/>
          <p:nvPr/>
        </p:nvSpPr>
        <p:spPr>
          <a:xfrm>
            <a:off x="969264" y="3227832"/>
            <a:ext cx="82296" cy="8229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19" y="3154680"/>
            <a:ext cx="44531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F6FAFC"/>
                </a:solidFill>
                <a:latin typeface="Aptos"/>
              </a:defRPr>
            </a:pPr>
            <a:r>
              <a:t>Accept structured text, audio, and optional skin images.</a:t>
            </a:r>
          </a:p>
        </p:txBody>
      </p:sp>
      <p:sp>
        <p:nvSpPr>
          <p:cNvPr id="13" name="Oval 12"/>
          <p:cNvSpPr/>
          <p:nvPr/>
        </p:nvSpPr>
        <p:spPr>
          <a:xfrm>
            <a:off x="969264" y="3703320"/>
            <a:ext cx="82296" cy="8229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19" y="3630168"/>
            <a:ext cx="44531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F6FAFC"/>
                </a:solidFill>
                <a:latin typeface="Aptos"/>
              </a:defRPr>
            </a:pPr>
            <a:r>
              <a:t>Provide cautious image observations and red-flag safety triage.</a:t>
            </a:r>
          </a:p>
        </p:txBody>
      </p:sp>
      <p:sp>
        <p:nvSpPr>
          <p:cNvPr id="15" name="Oval 14"/>
          <p:cNvSpPr/>
          <p:nvPr/>
        </p:nvSpPr>
        <p:spPr>
          <a:xfrm>
            <a:off x="969264" y="4178808"/>
            <a:ext cx="82296" cy="8229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719" y="4105656"/>
            <a:ext cx="44531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F6FAFC"/>
                </a:solidFill>
                <a:latin typeface="Aptos"/>
              </a:defRPr>
            </a:pPr>
            <a:r>
              <a:t>Generate evidence-linked educational responses without prescribing.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2057400"/>
            <a:ext cx="5230368" cy="32461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81344" y="2057400"/>
            <a:ext cx="82296" cy="324612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55664" y="2258568"/>
            <a:ext cx="47274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7E67"/>
                </a:solidFill>
                <a:latin typeface="Aptos"/>
              </a:defRPr>
            </a:pPr>
            <a:r>
              <a:t>ENGINEERING OBJECTIVES</a:t>
            </a:r>
          </a:p>
        </p:txBody>
      </p:sp>
      <p:sp>
        <p:nvSpPr>
          <p:cNvPr id="20" name="Oval 19"/>
          <p:cNvSpPr/>
          <p:nvPr/>
        </p:nvSpPr>
        <p:spPr>
          <a:xfrm>
            <a:off x="6492240" y="2752344"/>
            <a:ext cx="82296" cy="82296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11696" y="2679192"/>
            <a:ext cx="44531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F6FAFC"/>
                </a:solidFill>
                <a:latin typeface="Aptos"/>
              </a:defRPr>
            </a:pPr>
            <a:r>
              <a:t>Use LangGraph to coordinate a bounded, testable workflow.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227832"/>
            <a:ext cx="82296" cy="82296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11696" y="3154680"/>
            <a:ext cx="44531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F6FAFC"/>
                </a:solidFill>
                <a:latin typeface="Aptos"/>
              </a:defRPr>
            </a:pPr>
            <a:r>
              <a:t>Ground answers with trusted local RAG and optional web research.</a:t>
            </a:r>
          </a:p>
        </p:txBody>
      </p:sp>
      <p:sp>
        <p:nvSpPr>
          <p:cNvPr id="24" name="Oval 23"/>
          <p:cNvSpPr/>
          <p:nvPr/>
        </p:nvSpPr>
        <p:spPr>
          <a:xfrm>
            <a:off x="6492240" y="3703320"/>
            <a:ext cx="82296" cy="82296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11696" y="3630168"/>
            <a:ext cx="44531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F6FAFC"/>
                </a:solidFill>
                <a:latin typeface="Aptos"/>
              </a:defRPr>
            </a:pPr>
            <a:r>
              <a:t>Persist consultation context and images for longitudinal follow-up.</a:t>
            </a:r>
          </a:p>
        </p:txBody>
      </p:sp>
      <p:sp>
        <p:nvSpPr>
          <p:cNvPr id="26" name="Oval 25"/>
          <p:cNvSpPr/>
          <p:nvPr/>
        </p:nvSpPr>
        <p:spPr>
          <a:xfrm>
            <a:off x="6492240" y="4178808"/>
            <a:ext cx="82296" cy="82296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11696" y="4105656"/>
            <a:ext cx="44531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F6FAFC"/>
                </a:solidFill>
                <a:latin typeface="Aptos"/>
              </a:defRPr>
            </a:pPr>
            <a:r>
              <a:t>Evaluate reliability, safety boundaries, privacy, and usability.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806440"/>
            <a:ext cx="10835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B5CCD5"/>
                </a:solidFill>
                <a:latin typeface="Aptos"/>
              </a:defRPr>
            </a:pPr>
            <a:r>
              <a:t>Success criterion: a working, testable vertical slice with clearly stated limitations—not a claim of clinical validation.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11  /  DERMTRACK AGENT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EXPECTED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Expected novelty of DermTrack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545336"/>
            <a:ext cx="10698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CCD5"/>
                </a:solidFill>
                <a:latin typeface="Aptos"/>
              </a:defRPr>
            </a:pPr>
            <a:r>
              <a:t>The novelty is in the integration and safety boundary of the workflow, rather than in claiming a new medical diagnosis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84831"/>
            <a:ext cx="3401568" cy="148132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2084831"/>
            <a:ext cx="82296" cy="1481328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286000"/>
            <a:ext cx="28986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3C2B0"/>
                </a:solidFill>
                <a:latin typeface="Aptos"/>
              </a:defRPr>
            </a:pPr>
            <a:r>
              <a:t>01  INTEGRATED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88336"/>
            <a:ext cx="289864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6FAFC"/>
                </a:solidFill>
                <a:latin typeface="Aptos"/>
              </a:defRPr>
            </a:pPr>
            <a:r>
              <a:t>Combines structured intake, optional images, audio transcription, and consultation history instead of relying on an image alone.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084831"/>
            <a:ext cx="3401568" cy="148132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2084831"/>
            <a:ext cx="82296" cy="1481328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2286000"/>
            <a:ext cx="28986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7E67"/>
                </a:solidFill>
                <a:latin typeface="Aptos"/>
              </a:defRPr>
            </a:pPr>
            <a:r>
              <a:t>02  GROUNDED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88336"/>
            <a:ext cx="289864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6FAFC"/>
                </a:solidFill>
                <a:latin typeface="Aptos"/>
              </a:defRPr>
            </a:pPr>
            <a:r>
              <a:t>Connects local trusted RAG with source metadata and optional bounded web research for evidence-aware responses.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2084831"/>
            <a:ext cx="3401568" cy="148132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19872" y="2084831"/>
            <a:ext cx="82296" cy="1481328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94192" y="2286000"/>
            <a:ext cx="28986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3C2B0"/>
                </a:solidFill>
                <a:latin typeface="Aptos"/>
              </a:defRPr>
            </a:pPr>
            <a:r>
              <a:t>03  SAFETY-FIRST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2688336"/>
            <a:ext cx="289864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6FAFC"/>
                </a:solidFill>
                <a:latin typeface="Aptos"/>
              </a:defRPr>
            </a:pPr>
            <a:r>
              <a:t>Makes red-flag triage and non-diagnostic boundaries explicit before response generation.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77639"/>
            <a:ext cx="3401568" cy="148132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8368" y="3977639"/>
            <a:ext cx="82296" cy="1481328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4178807"/>
            <a:ext cx="28986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7E67"/>
                </a:solidFill>
                <a:latin typeface="Aptos"/>
              </a:defRPr>
            </a:pPr>
            <a:r>
              <a:t>04  PRIVACY MINIMIZATION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581144"/>
            <a:ext cx="289864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6FAFC"/>
                </a:solidFill>
                <a:latin typeface="Aptos"/>
              </a:defRPr>
            </a:pPr>
            <a:r>
              <a:t>Uses de-identified structured queries for optional web research and keeps sensitive consultation data in the application store.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977639"/>
            <a:ext cx="3401568" cy="148132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89120" y="3977639"/>
            <a:ext cx="82296" cy="1481328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4178807"/>
            <a:ext cx="28986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3C2B0"/>
                </a:solidFill>
                <a:latin typeface="Aptos"/>
              </a:defRPr>
            </a:pPr>
            <a:r>
              <a:t>05  LONGITUDINAL CONTEXT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581144"/>
            <a:ext cx="289864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6FAFC"/>
                </a:solidFill>
                <a:latin typeface="Aptos"/>
              </a:defRPr>
            </a:pPr>
            <a:r>
              <a:t>Preserves consultation records and uploaded images to support organized follow-up context.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19872" y="3977639"/>
            <a:ext cx="3401568" cy="148132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19872" y="3977639"/>
            <a:ext cx="82296" cy="1481328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94192" y="4178807"/>
            <a:ext cx="28986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7E67"/>
                </a:solidFill>
                <a:latin typeface="Aptos"/>
              </a:defRPr>
            </a:pPr>
            <a:r>
              <a:t>06  EVALUABLE 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4581144"/>
            <a:ext cx="289864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6FAFC"/>
                </a:solidFill>
                <a:latin typeface="Aptos"/>
              </a:defRPr>
            </a:pPr>
            <a:r>
              <a:t>Separates workflow stages so retrieval, triage, generation, persistence, and limitations can be tested independently.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852160"/>
            <a:ext cx="10835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B5CCD5"/>
                </a:solidFill>
                <a:latin typeface="Aptos"/>
              </a:defRPr>
            </a:pPr>
            <a:r>
              <a:t>Expected novelty: a privacy-conscious, evidence-grounded support workflow that is explicit about what it can and cannot do.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12  /  DERMTRACK AGENT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PRELIMINARY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961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System architecture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13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02E7F5-5774-5ED4-0D9E-3F7DA093A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027" y="1489183"/>
            <a:ext cx="7583946" cy="50559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PRELIMINARY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961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Role of the database and data-management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14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CCD5"/>
                </a:solidFill>
                <a:latin typeface="Aptos"/>
              </a:defRPr>
            </a:pPr>
            <a:r>
              <a:t>DermTrack separates operational patient data from searchable medical knowledge so each data type can be stored and accessed appropriately.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3401568" cy="21945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82296" cy="219456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331720"/>
            <a:ext cx="28986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23C2B0"/>
                </a:solidFill>
                <a:latin typeface="Aptos"/>
              </a:defRPr>
            </a:pPr>
            <a:r>
              <a:t>MONGODB ATLAS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97479"/>
            <a:ext cx="28986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EEDF0"/>
                </a:solidFill>
                <a:latin typeface="Aptos"/>
              </a:defRPr>
            </a:pPr>
            <a:r>
              <a:t>Operational application 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090672"/>
            <a:ext cx="289864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6FAFC"/>
                </a:solidFill>
                <a:latin typeface="Aptos"/>
              </a:defRPr>
            </a:pPr>
            <a:r>
              <a:t>Stores structured patient intake, consultation records, transcripts, image observations, triage outcomes, retrieved-source metadata, generated responses, timestamps, and history.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03120"/>
            <a:ext cx="3401568" cy="21945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2103120"/>
            <a:ext cx="82296" cy="219456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2331720"/>
            <a:ext cx="28986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7E67"/>
                </a:solidFill>
                <a:latin typeface="Aptos"/>
              </a:defRPr>
            </a:pPr>
            <a:r>
              <a:t>GRIDFS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697479"/>
            <a:ext cx="28986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EEDF0"/>
                </a:solidFill>
                <a:latin typeface="Aptos"/>
              </a:defRPr>
            </a:pPr>
            <a:r>
              <a:t>Large-file image 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090672"/>
            <a:ext cx="289864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6FAFC"/>
                </a:solidFill>
                <a:latin typeface="Aptos"/>
              </a:defRPr>
            </a:pPr>
            <a:r>
              <a:t>Stores uploaded JPEG, PNG, and WEBP consultation images separately from the consultation document. The record keeps the GridFS file ID and content type.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2103120"/>
            <a:ext cx="3401568" cy="21945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19872" y="2103120"/>
            <a:ext cx="82296" cy="219456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94192" y="2331720"/>
            <a:ext cx="28986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23C2B0"/>
                </a:solidFill>
                <a:latin typeface="Aptos"/>
              </a:defRPr>
            </a:pPr>
            <a:r>
              <a:t>CHROMADB OR ATLAS VECTOR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2871216"/>
            <a:ext cx="28986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EEDF0"/>
                </a:solidFill>
                <a:latin typeface="Aptos"/>
              </a:defRPr>
            </a:pPr>
            <a:r>
              <a:rPr dirty="0"/>
              <a:t>Medical knowledge retrieval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3090672"/>
            <a:ext cx="289864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6FAFC"/>
                </a:solidFill>
                <a:latin typeface="Aptos"/>
              </a:defRPr>
            </a:pPr>
            <a:r>
              <a:t>Stores trusted-document chunks, embeddings, source URLs, trust tiers, page numbers, and document metadata. It is not used as the patient-record store.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681728"/>
            <a:ext cx="10881360" cy="841248"/>
          </a:xfrm>
          <a:prstGeom prst="roundRect">
            <a:avLst/>
          </a:prstGeom>
          <a:solidFill>
            <a:srgbClr val="144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4928616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DATA LIFECYCLE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4892040"/>
            <a:ext cx="8412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Collect → Validate → Process → Retrieve evidence → Generate response → Persist consultation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852160"/>
            <a:ext cx="10835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B5CCD5"/>
                </a:solidFill>
                <a:latin typeface="Aptos"/>
              </a:defRPr>
            </a:pPr>
            <a:r>
              <a:t>Design principle: patient data remains in the application database, while medical knowledge is indexed separately for retrieval.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Work plan for the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545336"/>
            <a:ext cx="10698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CCD5"/>
                </a:solidFill>
                <a:latin typeface="Aptos"/>
              </a:defRPr>
            </a:pPr>
            <a:r>
              <a:t>The work plan moves from evidence and requirements to a tested vertical slice, followed by evaluation and presentation readiness.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48840"/>
            <a:ext cx="3364992" cy="1188720"/>
          </a:xfrm>
          <a:prstGeom prst="roundRect">
            <a:avLst/>
          </a:prstGeom>
          <a:solidFill>
            <a:srgbClr val="102A43"/>
          </a:solidFill>
          <a:ln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59536" y="2377440"/>
            <a:ext cx="475488" cy="475488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2496312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A192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50008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t>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679192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Requirements, literature survey, research gap, objectives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48840"/>
            <a:ext cx="3364992" cy="1188720"/>
          </a:xfrm>
          <a:prstGeom prst="roundRect">
            <a:avLst/>
          </a:prstGeom>
          <a:solidFill>
            <a:srgbClr val="102A43"/>
          </a:solidFill>
          <a:ln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90288" y="2377440"/>
            <a:ext cx="475488" cy="475488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2496312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A192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9512" y="2350008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t>Core 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9512" y="2679192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FastAPI, schemas, LangGraph workflow, safety triage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2148840"/>
            <a:ext cx="3364992" cy="1188720"/>
          </a:xfrm>
          <a:prstGeom prst="roundRect">
            <a:avLst/>
          </a:prstGeom>
          <a:solidFill>
            <a:srgbClr val="102A43"/>
          </a:solidFill>
          <a:ln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321040" y="2377440"/>
            <a:ext cx="475488" cy="475488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2496312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A192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0264" y="2350008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t>Knowledge +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0264" y="2679192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RAG ingestion, vector search, MongoDB, GridFS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721608"/>
            <a:ext cx="3364992" cy="1188720"/>
          </a:xfrm>
          <a:prstGeom prst="roundRect">
            <a:avLst/>
          </a:prstGeom>
          <a:solidFill>
            <a:srgbClr val="102A43"/>
          </a:solidFill>
          <a:ln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59536" y="3950208"/>
            <a:ext cx="475488" cy="475488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9536" y="4069080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A192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922776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t>Multimodal + 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251960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Audio, image observation, intake interface, history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3721608"/>
            <a:ext cx="3364992" cy="1188720"/>
          </a:xfrm>
          <a:prstGeom prst="roundRect">
            <a:avLst/>
          </a:prstGeom>
          <a:solidFill>
            <a:srgbClr val="102A43"/>
          </a:solidFill>
          <a:ln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590288" y="3950208"/>
            <a:ext cx="475488" cy="475488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90288" y="4069080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A192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9512" y="3922776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9512" y="4251960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Unit tests, workflow tests, safety checks, error analysis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19872" y="3721608"/>
            <a:ext cx="3364992" cy="1188720"/>
          </a:xfrm>
          <a:prstGeom prst="roundRect">
            <a:avLst/>
          </a:prstGeom>
          <a:solidFill>
            <a:srgbClr val="102A43"/>
          </a:solidFill>
          <a:ln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321040" y="3950208"/>
            <a:ext cx="475488" cy="475488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21040" y="4069080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A192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70264" y="3922776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t>Finalization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70264" y="4251960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Integration demo, documentation, report, lecturer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852160"/>
            <a:ext cx="10835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B5CCD5"/>
                </a:solidFill>
                <a:latin typeface="Aptos"/>
              </a:defRPr>
            </a:pPr>
            <a:r>
              <a:t>Milestone: demonstrate one complete consultation path before expanding scope.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15  /  DERMTRACK AGENT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TEAM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961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Equal technical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16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CCD5"/>
                </a:solidFill>
                <a:latin typeface="Aptos"/>
              </a:defRPr>
            </a:pPr>
            <a:r>
              <a:t>Both members contribute to the core implementation, not only documentation or presentation 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01952"/>
            <a:ext cx="5230368" cy="342900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901952"/>
            <a:ext cx="91440" cy="342900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7" y="2176272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6FAFC"/>
                </a:solidFill>
                <a:latin typeface="Aptos Display"/>
              </a:defRPr>
            </a:pPr>
            <a:r>
              <a:t>Annam Akash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257860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23MIA1112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97180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EEDF0"/>
                </a:solidFill>
                <a:latin typeface="Aptos"/>
              </a:defRPr>
            </a:pPr>
            <a:r>
              <a:t>Backend, AI workflow &amp; data engineering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3465576"/>
            <a:ext cx="91440" cy="91440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25295" y="3410712"/>
            <a:ext cx="4315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Design FastAPI APIs and LangGraph workflow orchestration.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3858768"/>
            <a:ext cx="91440" cy="91440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25295" y="3803904"/>
            <a:ext cx="4315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Implement multimodal input handling and Gemini/Deepgram integration.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4251959"/>
            <a:ext cx="91440" cy="91440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25295" y="4197096"/>
            <a:ext cx="4315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Develop RAG ingestion, chunking, embeddings, and vector retrieval.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" y="4645151"/>
            <a:ext cx="91440" cy="91440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25295" y="4590288"/>
            <a:ext cx="4315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Implement MongoDB persistence, GridFS image storage, and consultation history.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1901952"/>
            <a:ext cx="5230368" cy="342900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81344" y="1901952"/>
            <a:ext cx="91440" cy="342900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01383" y="2176272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6FAFC"/>
                </a:solidFill>
                <a:latin typeface="Aptos Display"/>
              </a:defRPr>
            </a:pPr>
            <a:r>
              <a:t>B. Hema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3" y="257860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7E67"/>
                </a:solidFill>
                <a:latin typeface="Aptos"/>
              </a:defRPr>
            </a:pPr>
            <a:r>
              <a:t>23MIA1101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1383" y="297180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EEDF0"/>
                </a:solidFill>
                <a:latin typeface="Aptos"/>
              </a:defRPr>
            </a:pPr>
            <a:r>
              <a:t>Client experience, evaluation &amp; responsible AI</a:t>
            </a:r>
          </a:p>
        </p:txBody>
      </p:sp>
      <p:sp>
        <p:nvSpPr>
          <p:cNvPr id="25" name="Oval 24"/>
          <p:cNvSpPr/>
          <p:nvPr/>
        </p:nvSpPr>
        <p:spPr>
          <a:xfrm>
            <a:off x="6528816" y="3465576"/>
            <a:ext cx="91440" cy="91440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48272" y="3410712"/>
            <a:ext cx="4315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Develop the patient/clinician interface and structured intake experience.</a:t>
            </a:r>
          </a:p>
        </p:txBody>
      </p:sp>
      <p:sp>
        <p:nvSpPr>
          <p:cNvPr id="27" name="Oval 26"/>
          <p:cNvSpPr/>
          <p:nvPr/>
        </p:nvSpPr>
        <p:spPr>
          <a:xfrm>
            <a:off x="6528816" y="3858768"/>
            <a:ext cx="91440" cy="91440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48272" y="3803904"/>
            <a:ext cx="4315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Implement response presentation, source citations, and history views.</a:t>
            </a:r>
          </a:p>
        </p:txBody>
      </p:sp>
      <p:sp>
        <p:nvSpPr>
          <p:cNvPr id="29" name="Oval 28"/>
          <p:cNvSpPr/>
          <p:nvPr/>
        </p:nvSpPr>
        <p:spPr>
          <a:xfrm>
            <a:off x="6528816" y="4251959"/>
            <a:ext cx="91440" cy="91440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48272" y="4197096"/>
            <a:ext cx="4315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Design evaluation datasets, safety tests, usability checks, and error analysis.</a:t>
            </a:r>
          </a:p>
        </p:txBody>
      </p:sp>
      <p:sp>
        <p:nvSpPr>
          <p:cNvPr id="31" name="Oval 30"/>
          <p:cNvSpPr/>
          <p:nvPr/>
        </p:nvSpPr>
        <p:spPr>
          <a:xfrm>
            <a:off x="6528816" y="4645151"/>
            <a:ext cx="91440" cy="91440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48272" y="4590288"/>
            <a:ext cx="4315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Support privacy, fairness, documentation, and end-to-end integration.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96128"/>
            <a:ext cx="10881360" cy="566928"/>
          </a:xfrm>
          <a:prstGeom prst="roundRect">
            <a:avLst/>
          </a:prstGeom>
          <a:solidFill>
            <a:srgbClr val="363140"/>
          </a:solidFill>
          <a:ln>
            <a:solidFill>
              <a:srgbClr val="6F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2688" y="5779008"/>
            <a:ext cx="1783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SHARED RESPONSIBILITY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360" y="5751576"/>
            <a:ext cx="8001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Architecture decisions · Git collaboration · Integration testing · Lecturer review · Final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2364</Words>
  <Application>Microsoft Office PowerPoint</Application>
  <PresentationFormat>Widescreen</PresentationFormat>
  <Paragraphs>321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DermRev11 — Complete Review 1 Presentation</dc:title>
  <dc:subject>Missing objectives, expected novelty, and work plan added</dc:subject>
  <dc:creator>Annam Akash and B. Hema</dc:creator>
  <cp:keywords/>
  <dc:description>generated using python-pptx</dc:description>
  <cp:lastModifiedBy>Akash Annam</cp:lastModifiedBy>
  <cp:revision>5</cp:revision>
  <dcterms:created xsi:type="dcterms:W3CDTF">2013-01-27T09:14:16Z</dcterms:created>
  <dcterms:modified xsi:type="dcterms:W3CDTF">2026-08-28T04:04:22Z</dcterms:modified>
  <cp:category/>
</cp:coreProperties>
</file>