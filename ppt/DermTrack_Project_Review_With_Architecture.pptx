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4" d="100"/>
          <a:sy n="104" d="100"/>
        </p:scale>
        <p:origin x="284" y="8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9646920" y="530352"/>
            <a:ext cx="1115568" cy="1115568"/>
          </a:xfrm>
          <a:prstGeom prst="ellipse">
            <a:avLst/>
          </a:prstGeom>
          <a:solidFill>
            <a:srgbClr val="23C2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0287000" y="1069848"/>
            <a:ext cx="1783080" cy="1783080"/>
          </a:xfrm>
          <a:prstGeom prst="ellipse">
            <a:avLst/>
          </a:prstGeom>
          <a:solidFill>
            <a:srgbClr val="23C2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9326880" y="4526280"/>
            <a:ext cx="914400" cy="914400"/>
          </a:xfrm>
          <a:prstGeom prst="ellipse">
            <a:avLst/>
          </a:prstGeom>
          <a:solidFill>
            <a:srgbClr val="FF7E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0058400" y="3840480"/>
            <a:ext cx="1463040" cy="1463040"/>
          </a:xfrm>
          <a:prstGeom prst="ellipse">
            <a:avLst/>
          </a:prstGeom>
          <a:solidFill>
            <a:srgbClr val="FF7E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6" name="Connector 5"/>
          <p:cNvCxnSpPr/>
          <p:nvPr/>
        </p:nvCxnSpPr>
        <p:spPr>
          <a:xfrm flipV="1">
            <a:off x="10195560" y="1417320"/>
            <a:ext cx="868680" cy="594360"/>
          </a:xfrm>
          <a:prstGeom prst="line">
            <a:avLst/>
          </a:prstGeom>
          <a:ln w="17780">
            <a:solidFill>
              <a:srgbClr val="345B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1064240" y="1417320"/>
            <a:ext cx="320040" cy="1005840"/>
          </a:xfrm>
          <a:prstGeom prst="line">
            <a:avLst/>
          </a:prstGeom>
          <a:ln w="17780">
            <a:solidFill>
              <a:srgbClr val="345B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H="1">
            <a:off x="10607040" y="2423160"/>
            <a:ext cx="777240" cy="548640"/>
          </a:xfrm>
          <a:prstGeom prst="line">
            <a:avLst/>
          </a:prstGeom>
          <a:ln w="17780">
            <a:solidFill>
              <a:srgbClr val="345B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0607040" y="2971800"/>
            <a:ext cx="868680" cy="731520"/>
          </a:xfrm>
          <a:prstGeom prst="line">
            <a:avLst/>
          </a:prstGeom>
          <a:ln w="17780">
            <a:solidFill>
              <a:srgbClr val="345B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10131552" y="1947672"/>
            <a:ext cx="128016" cy="128016"/>
          </a:xfrm>
          <a:prstGeom prst="ellipse">
            <a:avLst/>
          </a:prstGeom>
          <a:solidFill>
            <a:srgbClr val="23C2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1000232" y="1353312"/>
            <a:ext cx="128016" cy="128016"/>
          </a:xfrm>
          <a:prstGeom prst="ellipse">
            <a:avLst/>
          </a:prstGeom>
          <a:solidFill>
            <a:srgbClr val="23C2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11320272" y="2359152"/>
            <a:ext cx="128016" cy="128016"/>
          </a:xfrm>
          <a:prstGeom prst="ellipse">
            <a:avLst/>
          </a:prstGeom>
          <a:solidFill>
            <a:srgbClr val="23C2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10543032" y="2907792"/>
            <a:ext cx="128016" cy="128016"/>
          </a:xfrm>
          <a:prstGeom prst="ellipse">
            <a:avLst/>
          </a:prstGeom>
          <a:solidFill>
            <a:srgbClr val="23C2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11411712" y="3639312"/>
            <a:ext cx="128016" cy="128016"/>
          </a:xfrm>
          <a:prstGeom prst="ellipse">
            <a:avLst/>
          </a:prstGeom>
          <a:solidFill>
            <a:srgbClr val="23C2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58368" y="676656"/>
            <a:ext cx="109728" cy="1051560"/>
          </a:xfrm>
          <a:prstGeom prst="rect">
            <a:avLst/>
          </a:prstGeom>
          <a:solidFill>
            <a:srgbClr val="FF7E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87552" y="658368"/>
            <a:ext cx="7680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3C2B0"/>
                </a:solidFill>
                <a:latin typeface="Aptos"/>
              </a:defRPr>
            </a:pPr>
            <a:r>
              <a:t>PROJECT REVIEW PRESENTATION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1188720"/>
            <a:ext cx="8046720" cy="9601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4200" b="1">
                <a:solidFill>
                  <a:srgbClr val="F6FAFC"/>
                </a:solidFill>
                <a:latin typeface="Aptos Display"/>
              </a:defRPr>
            </a:pPr>
            <a:r>
              <a:t>DermTrack Agent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7552" y="2212848"/>
            <a:ext cx="768096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0">
                <a:solidFill>
                  <a:srgbClr val="B5CCD5"/>
                </a:solidFill>
                <a:latin typeface="Aptos"/>
              </a:defRPr>
            </a:pPr>
            <a:r>
              <a:t>AI-Assisted Non-Diagnostic</a:t>
            </a:r>
            <a:br/>
            <a:r>
              <a:t>Dermatology Support System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9808" y="3767328"/>
            <a:ext cx="8156448" cy="2057400"/>
          </a:xfrm>
          <a:prstGeom prst="roundRect">
            <a:avLst/>
          </a:prstGeom>
          <a:solidFill>
            <a:srgbClr val="102A43"/>
          </a:solidFill>
          <a:ln w="12700">
            <a:solidFill>
              <a:srgbClr val="345B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97280" y="4069080"/>
            <a:ext cx="288036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3C2B0"/>
                </a:solidFill>
                <a:latin typeface="Aptos"/>
              </a:defRPr>
            </a:pPr>
            <a:r>
              <a:t>TEAM MEMBERS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4343400"/>
            <a:ext cx="288036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F6FAFC"/>
                </a:solidFill>
                <a:latin typeface="Aptos"/>
              </a:defRPr>
            </a:pPr>
            <a:r>
              <a:t>Annam Akash  ·  23MIA1112</a:t>
            </a:r>
            <a:br/>
            <a:r>
              <a:t>B. Hema  ·  23MIA1101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17720" y="4069080"/>
            <a:ext cx="361188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3C2B0"/>
                </a:solidFill>
                <a:latin typeface="Aptos"/>
              </a:defRPr>
            </a:pPr>
            <a:r>
              <a:t>PROJECT GUIDE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17720" y="4343400"/>
            <a:ext cx="361188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F6FAFC"/>
                </a:solidFill>
                <a:latin typeface="Aptos"/>
              </a:defRPr>
            </a:pPr>
            <a:r>
              <a:t>Dr. Abhishi Choudhury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4846320"/>
            <a:ext cx="708660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3C2B0"/>
                </a:solidFill>
                <a:latin typeface="Aptos"/>
              </a:defRPr>
            </a:pPr>
            <a:r>
              <a:t>DEPARTMENT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" y="5120640"/>
            <a:ext cx="708660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F6FAFC"/>
                </a:solidFill>
                <a:latin typeface="Aptos"/>
              </a:defRPr>
            </a:pPr>
            <a:r>
              <a:t>Integrated M.Tech CSE (BA)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46920" y="6144768"/>
            <a:ext cx="1920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B5CCD5"/>
                </a:solidFill>
                <a:latin typeface="Aptos"/>
              </a:defRPr>
            </a:pPr>
            <a:r>
              <a:t>2026  /  INTRODUCTION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420624"/>
            <a:ext cx="3474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23C2B0"/>
                </a:solidFill>
                <a:latin typeface="Aptos"/>
              </a:defRPr>
            </a:pPr>
            <a:r>
              <a:t>PROBLEM IDENTIFICATION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13232"/>
            <a:ext cx="8503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000" b="1">
                <a:solidFill>
                  <a:srgbClr val="F6FAFC"/>
                </a:solidFill>
                <a:latin typeface="Aptos Display"/>
              </a:defRPr>
            </a:pPr>
            <a:r>
              <a:t>The gap DermTrack addresses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35440" y="475488"/>
            <a:ext cx="2286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B5CCD5"/>
                </a:solidFill>
                <a:latin typeface="Aptos"/>
              </a:defRPr>
            </a:pPr>
            <a:r>
              <a:t>02  /  DERMTRACK AGENT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99032"/>
            <a:ext cx="658368" cy="54864"/>
          </a:xfrm>
          <a:prstGeom prst="rect">
            <a:avLst/>
          </a:prstGeom>
          <a:solidFill>
            <a:srgbClr val="FF7E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58368" y="1755648"/>
            <a:ext cx="5623560" cy="1847088"/>
          </a:xfrm>
          <a:prstGeom prst="roundRect">
            <a:avLst/>
          </a:prstGeom>
          <a:solidFill>
            <a:srgbClr val="102A43"/>
          </a:solidFill>
          <a:ln w="12700">
            <a:solidFill>
              <a:srgbClr val="345B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2011680"/>
            <a:ext cx="20116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F7E67"/>
                </a:solidFill>
                <a:latin typeface="Aptos"/>
              </a:defRPr>
            </a:pPr>
            <a:r>
              <a:t>THE CORE 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359152"/>
            <a:ext cx="498348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F6FAFC"/>
                </a:solidFill>
                <a:latin typeface="Aptos"/>
              </a:defRPr>
            </a:pPr>
            <a:r>
              <a:t>People struggle to interpret skin symptoms and decide what to do next. Online information is often fragmented, hard to verify, and unsafe without context.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20840" y="1764792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F6FAFC"/>
                </a:solidFill>
                <a:latin typeface="Aptos"/>
              </a:defRPr>
            </a:pPr>
            <a:r>
              <a:t>Why this is difficult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29984" y="2212848"/>
            <a:ext cx="3657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23C2B0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23760" y="2194560"/>
            <a:ext cx="21488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6FAFC"/>
                </a:solidFill>
                <a:latin typeface="Aptos"/>
              </a:defRPr>
            </a:pPr>
            <a:r>
              <a:t>Unstructured inputs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23760" y="2441448"/>
            <a:ext cx="4069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B5CCD5"/>
                </a:solidFill>
                <a:latin typeface="Aptos"/>
              </a:defRPr>
            </a:pPr>
            <a:r>
              <a:t>Symptoms, history, and images arrive in different formats.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29984" y="2871215"/>
            <a:ext cx="3657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23C2B0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0" y="2852927"/>
            <a:ext cx="21488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6FAFC"/>
                </a:solidFill>
                <a:latin typeface="Aptos"/>
              </a:defRPr>
            </a:pPr>
            <a:r>
              <a:t>Evidence overload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3099815"/>
            <a:ext cx="4069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B5CCD5"/>
                </a:solidFill>
                <a:latin typeface="Aptos"/>
              </a:defRPr>
            </a:pPr>
            <a:r>
              <a:t>Reliable medical information is scattered across sources.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29984" y="3529584"/>
            <a:ext cx="3657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23C2B0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23760" y="3511296"/>
            <a:ext cx="21488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6FAFC"/>
                </a:solidFill>
                <a:latin typeface="Aptos"/>
              </a:defRPr>
            </a:pPr>
            <a:r>
              <a:t>Safety risk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23760" y="3758183"/>
            <a:ext cx="4069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B5CCD5"/>
                </a:solidFill>
                <a:latin typeface="Aptos"/>
              </a:defRPr>
            </a:pPr>
            <a:r>
              <a:t>A confident but unsupported answer can delay appropriate care.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29984" y="4187952"/>
            <a:ext cx="3657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23C2B0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23760" y="4169664"/>
            <a:ext cx="21488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6FAFC"/>
                </a:solidFill>
                <a:latin typeface="Aptos"/>
              </a:defRPr>
            </a:pPr>
            <a:r>
              <a:t>Limited continuity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23760" y="4416552"/>
            <a:ext cx="4069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B5CCD5"/>
                </a:solidFill>
                <a:latin typeface="Aptos"/>
              </a:defRPr>
            </a:pPr>
            <a:r>
              <a:t>Previous consultations and observations are hard to organize.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" y="4041648"/>
            <a:ext cx="10881360" cy="1234440"/>
          </a:xfrm>
          <a:prstGeom prst="rect">
            <a:avLst/>
          </a:prstGeom>
          <a:solidFill>
            <a:srgbClr val="144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60120" y="4315968"/>
            <a:ext cx="20116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23C2B0"/>
                </a:solidFill>
                <a:latin typeface="Aptos"/>
              </a:defRPr>
            </a:pPr>
            <a:r>
              <a:t>DERMTRACK'S RESPONSE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26080" y="4251960"/>
            <a:ext cx="8092440" cy="4937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6FAFC"/>
                </a:solidFill>
                <a:latin typeface="Aptos"/>
              </a:defRPr>
            </a:pPr>
            <a:r>
              <a:t>Structured intake + optional image observations + safety triage + trusted retrieval + consultation history.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26080" y="4800600"/>
            <a:ext cx="80924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DEEDF0"/>
                </a:solidFill>
                <a:latin typeface="Aptos"/>
              </a:defRPr>
            </a:pPr>
            <a:r>
              <a:t>Supports informed next steps; it does not replace a dermatologist or issue prescriptions.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420624"/>
            <a:ext cx="3474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23C2B0"/>
                </a:solidFill>
                <a:latin typeface="Aptos"/>
              </a:defRPr>
            </a:pPr>
            <a:r>
              <a:t>PROBLEM IDENTIFICATION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13232"/>
            <a:ext cx="8503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000" b="1">
                <a:solidFill>
                  <a:srgbClr val="F6FAFC"/>
                </a:solidFill>
                <a:latin typeface="Aptos Display"/>
              </a:defRPr>
            </a:pPr>
            <a:r>
              <a:t>Who needs it—and why it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35440" y="475488"/>
            <a:ext cx="2286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B5CCD5"/>
                </a:solidFill>
                <a:latin typeface="Aptos"/>
              </a:defRPr>
            </a:pPr>
            <a:r>
              <a:t>03  /  DERMTRACK AGENT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99032"/>
            <a:ext cx="658368" cy="54864"/>
          </a:xfrm>
          <a:prstGeom prst="rect">
            <a:avLst/>
          </a:prstGeom>
          <a:solidFill>
            <a:srgbClr val="FF7E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58368" y="1719072"/>
            <a:ext cx="3337560" cy="1865376"/>
          </a:xfrm>
          <a:prstGeom prst="roundRect">
            <a:avLst/>
          </a:prstGeom>
          <a:solidFill>
            <a:srgbClr val="102A43"/>
          </a:solidFill>
          <a:ln w="12700">
            <a:solidFill>
              <a:srgbClr val="345B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58368" y="1719072"/>
            <a:ext cx="82296" cy="1865376"/>
          </a:xfrm>
          <a:prstGeom prst="rect">
            <a:avLst/>
          </a:prstGeom>
          <a:solidFill>
            <a:srgbClr val="23C2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1975104"/>
            <a:ext cx="28803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23C2B0"/>
                </a:solidFill>
                <a:latin typeface="Aptos"/>
              </a:defRPr>
            </a:pPr>
            <a:r>
              <a:t>TARGET USERS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340864"/>
            <a:ext cx="2880360" cy="10607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6FAFC"/>
                </a:solidFill>
                <a:latin typeface="Aptos"/>
              </a:defRPr>
            </a:pPr>
            <a:r>
              <a:t>Patients seeking understandable guidance</a:t>
            </a:r>
            <a:br/>
            <a:br/>
            <a:r>
              <a:t>Clinicians reviewing structured consultation context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25696" y="1719072"/>
            <a:ext cx="3337560" cy="1865376"/>
          </a:xfrm>
          <a:prstGeom prst="roundRect">
            <a:avLst/>
          </a:prstGeom>
          <a:solidFill>
            <a:srgbClr val="102A43"/>
          </a:solidFill>
          <a:ln w="12700">
            <a:solidFill>
              <a:srgbClr val="345B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425696" y="1719072"/>
            <a:ext cx="82296" cy="1865376"/>
          </a:xfrm>
          <a:prstGeom prst="rect">
            <a:avLst/>
          </a:prstGeom>
          <a:solidFill>
            <a:srgbClr val="FF7E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81728" y="1975104"/>
            <a:ext cx="28803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F7E67"/>
                </a:solidFill>
                <a:latin typeface="Aptos"/>
              </a:defRPr>
            </a:pPr>
            <a:r>
              <a:t>DOMAIN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81728" y="2340864"/>
            <a:ext cx="2880360" cy="10607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6FAFC"/>
                </a:solidFill>
                <a:latin typeface="Aptos"/>
              </a:defRPr>
            </a:pPr>
            <a:r>
              <a:t>AI-assisted dermatology support</a:t>
            </a:r>
            <a:br/>
            <a:br/>
            <a:r>
              <a:t>Text + optional skin images + medical knowledge retrieval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93024" y="1719072"/>
            <a:ext cx="3337560" cy="1865376"/>
          </a:xfrm>
          <a:prstGeom prst="roundRect">
            <a:avLst/>
          </a:prstGeom>
          <a:solidFill>
            <a:srgbClr val="102A43"/>
          </a:solidFill>
          <a:ln w="12700">
            <a:solidFill>
              <a:srgbClr val="345B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193024" y="1719072"/>
            <a:ext cx="82296" cy="1865376"/>
          </a:xfrm>
          <a:prstGeom prst="rect">
            <a:avLst/>
          </a:prstGeom>
          <a:solidFill>
            <a:srgbClr val="23C2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449056" y="1975104"/>
            <a:ext cx="28803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23C2B0"/>
                </a:solidFill>
                <a:latin typeface="Aptos"/>
              </a:defRPr>
            </a:pPr>
            <a:r>
              <a:t>MOTIVATION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49056" y="2340864"/>
            <a:ext cx="2880360" cy="10607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6FAFC"/>
                </a:solidFill>
                <a:latin typeface="Aptos"/>
              </a:defRPr>
            </a:pPr>
            <a:r>
              <a:t>Make first-line information more organized, explainable, privacy-conscious, and safety-aware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3977639"/>
            <a:ext cx="5230368" cy="1417320"/>
          </a:xfrm>
          <a:prstGeom prst="roundRect">
            <a:avLst/>
          </a:prstGeom>
          <a:solidFill>
            <a:srgbClr val="144350"/>
          </a:solidFill>
          <a:ln w="12700">
            <a:solidFill>
              <a:srgbClr val="345B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60120" y="4251960"/>
            <a:ext cx="2286000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23C2B0"/>
                </a:solidFill>
                <a:latin typeface="Aptos"/>
              </a:defRPr>
            </a:pPr>
            <a:r>
              <a:t>PRACTICAL RELEVANCE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4590288"/>
            <a:ext cx="45262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F6FAFC"/>
                </a:solidFill>
                <a:latin typeface="Aptos"/>
              </a:defRPr>
            </a:pPr>
            <a:r>
              <a:t>A realistic workflow for collecting better consultation context, grounding answers in trusted sources, flagging warning signs, and preserving a usable history.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81344" y="3977639"/>
            <a:ext cx="5349240" cy="1417320"/>
          </a:xfrm>
          <a:prstGeom prst="roundRect">
            <a:avLst/>
          </a:prstGeom>
          <a:solidFill>
            <a:srgbClr val="363140"/>
          </a:solidFill>
          <a:ln w="12700">
            <a:solidFill>
              <a:srgbClr val="6F52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83096" y="4251960"/>
            <a:ext cx="2286000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F7E67"/>
                </a:solidFill>
                <a:latin typeface="Aptos"/>
              </a:defRPr>
            </a:pPr>
            <a:r>
              <a:t>EXPECTED IMPACT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83096" y="4590288"/>
            <a:ext cx="4617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F6FAFC"/>
                </a:solidFill>
                <a:latin typeface="Aptos"/>
              </a:defRPr>
            </a:pPr>
            <a:r>
              <a:t>Improve access to understandable, evidence-linked support; encourage earlier professional attention when red flags appear; and reduce unsupported, overconfident health responses.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6656" y="5897880"/>
            <a:ext cx="10698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>
                <a:solidFill>
                  <a:srgbClr val="B5CCD5"/>
                </a:solidFill>
                <a:latin typeface="Aptos"/>
              </a:defRPr>
            </a:pPr>
            <a:r>
              <a:t>Expected impact is a design objective, not a claim of clinical effectiveness; validation with clinicians and real-world users remains future work.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420624"/>
            <a:ext cx="4114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23C2B0"/>
                </a:solidFill>
                <a:latin typeface="Aptos"/>
              </a:defRPr>
            </a:pPr>
            <a:r>
              <a:t>LITERATURE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13232"/>
            <a:ext cx="8595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F6FAFC"/>
                </a:solidFill>
                <a:latin typeface="Aptos Display"/>
              </a:defRPr>
            </a:pPr>
            <a:r>
              <a:t>How the evidence was selected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35440" y="475488"/>
            <a:ext cx="2286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B5CCD5"/>
                </a:solidFill>
                <a:latin typeface="Aptos"/>
              </a:defRPr>
            </a:pPr>
            <a:r>
              <a:t>04  /  DERMTRACK AGENT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99032"/>
            <a:ext cx="658368" cy="54864"/>
          </a:xfrm>
          <a:prstGeom prst="rect">
            <a:avLst/>
          </a:prstGeom>
          <a:solidFill>
            <a:srgbClr val="FF7E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1554480"/>
            <a:ext cx="10698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B5CCD5"/>
                </a:solidFill>
                <a:latin typeface="Aptos"/>
              </a:defRPr>
            </a:pPr>
            <a:r>
              <a:t>The review connects DermTrack's implementation choices to research on dermatology AI, evidence grounding, fairness, and safe deployment.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148840"/>
            <a:ext cx="3401568" cy="1508760"/>
          </a:xfrm>
          <a:prstGeom prst="roundRect">
            <a:avLst/>
          </a:prstGeom>
          <a:solidFill>
            <a:srgbClr val="102A43"/>
          </a:solidFill>
          <a:ln w="12700">
            <a:solidFill>
              <a:srgbClr val="345B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58368" y="2148840"/>
            <a:ext cx="73152" cy="1508760"/>
          </a:xfrm>
          <a:prstGeom prst="rect">
            <a:avLst/>
          </a:prstGeom>
          <a:solidFill>
            <a:srgbClr val="23C2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2368296"/>
            <a:ext cx="2962656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23C2B0"/>
                </a:solidFill>
                <a:latin typeface="Aptos"/>
              </a:defRPr>
            </a:pPr>
            <a:r>
              <a:t>01  DOMAIN EVIDENCE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715768"/>
            <a:ext cx="2962656" cy="7772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6FAFC"/>
                </a:solidFill>
                <a:latin typeface="Aptos"/>
              </a:defRPr>
            </a:pPr>
            <a:r>
              <a:t>Dermatology image AI and multimodal models</a:t>
            </a:r>
            <a:br/>
            <a:br/>
            <a:r>
              <a:t>Question: How well do image-based systems generalize?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2148840"/>
            <a:ext cx="3401568" cy="1508760"/>
          </a:xfrm>
          <a:prstGeom prst="roundRect">
            <a:avLst/>
          </a:prstGeom>
          <a:solidFill>
            <a:srgbClr val="102A43"/>
          </a:solidFill>
          <a:ln w="12700">
            <a:solidFill>
              <a:srgbClr val="345B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89120" y="2148840"/>
            <a:ext cx="73152" cy="1508760"/>
          </a:xfrm>
          <a:prstGeom prst="rect">
            <a:avLst/>
          </a:prstGeom>
          <a:solidFill>
            <a:srgbClr val="FF7E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645152" y="2368296"/>
            <a:ext cx="2962656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FF7E67"/>
                </a:solidFill>
                <a:latin typeface="Aptos"/>
              </a:defRPr>
            </a:pPr>
            <a:r>
              <a:t>02  SYSTEM METHOD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45152" y="2715768"/>
            <a:ext cx="2962656" cy="7772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6FAFC"/>
                </a:solidFill>
                <a:latin typeface="Aptos"/>
              </a:defRPr>
            </a:pPr>
            <a:r>
              <a:t>RAG and medical language models</a:t>
            </a:r>
            <a:br/>
            <a:br/>
            <a:r>
              <a:t>Question: How can responses be grounded in external knowledge?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19872" y="2148840"/>
            <a:ext cx="3401568" cy="1508760"/>
          </a:xfrm>
          <a:prstGeom prst="roundRect">
            <a:avLst/>
          </a:prstGeom>
          <a:solidFill>
            <a:srgbClr val="102A43"/>
          </a:solidFill>
          <a:ln w="12700">
            <a:solidFill>
              <a:srgbClr val="345B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119872" y="2148840"/>
            <a:ext cx="73152" cy="1508760"/>
          </a:xfrm>
          <a:prstGeom prst="rect">
            <a:avLst/>
          </a:prstGeom>
          <a:solidFill>
            <a:srgbClr val="23C2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375904" y="2368296"/>
            <a:ext cx="2962656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23C2B0"/>
                </a:solidFill>
                <a:latin typeface="Aptos"/>
              </a:defRPr>
            </a:pPr>
            <a:r>
              <a:t>03  SAFETY + FAIRNESS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75904" y="2715768"/>
            <a:ext cx="2962656" cy="7772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6FAFC"/>
                </a:solidFill>
                <a:latin typeface="Aptos"/>
              </a:defRPr>
            </a:pPr>
            <a:r>
              <a:t>Bias, explainability, and governance</a:t>
            </a:r>
            <a:br/>
            <a:br/>
            <a:r>
              <a:t>Question: What must the system avoid claiming?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4096512"/>
            <a:ext cx="2103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F7E67"/>
                </a:solidFill>
                <a:latin typeface="Aptos"/>
              </a:defRPr>
            </a:pPr>
            <a:r>
              <a:t>SELECTED SOURCE SET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4407408"/>
            <a:ext cx="80467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900" b="1">
                <a:solidFill>
                  <a:srgbClr val="F6FAFC"/>
                </a:solidFill>
                <a:latin typeface="Aptos"/>
              </a:defRPr>
            </a:pPr>
            <a:r>
              <a:t>Liu 2020  ·  Daneshjou 2022  ·  Yan 2025  ·  Zhou 2024</a:t>
            </a:r>
            <a:br/>
            <a:r>
              <a:t>Lewis 2020  ·  Xiong 2024  ·  Zakka 2024  ·  WHO 2021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15400" y="4069080"/>
            <a:ext cx="2606040" cy="1078992"/>
          </a:xfrm>
          <a:prstGeom prst="roundRect">
            <a:avLst/>
          </a:prstGeom>
          <a:solidFill>
            <a:srgbClr val="363140"/>
          </a:solidFill>
          <a:ln>
            <a:solidFill>
              <a:srgbClr val="6F52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189720" y="4297680"/>
            <a:ext cx="20116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F7E67"/>
                </a:solidFill>
                <a:latin typeface="Aptos"/>
              </a:defRPr>
            </a:pPr>
            <a:r>
              <a:t>LITERATURE RUBRIC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89720" y="4617720"/>
            <a:ext cx="20574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1">
                <a:solidFill>
                  <a:srgbClr val="F6FAFC"/>
                </a:solidFill>
                <a:latin typeface="Aptos"/>
              </a:defRPr>
            </a:pPr>
            <a:r>
              <a:t>Paper → Method → Dataset → Findings → Performance → Limitations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" y="5888736"/>
            <a:ext cx="108356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0">
                <a:solidFill>
                  <a:srgbClr val="B5CCD5"/>
                </a:solidFill>
                <a:latin typeface="Aptos"/>
              </a:defRPr>
            </a:pPr>
            <a:r>
              <a:t>Peer-reviewed research is separated from surveys and organizational guidance.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420624"/>
            <a:ext cx="4114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23C2B0"/>
                </a:solidFill>
                <a:latin typeface="Aptos"/>
              </a:defRPr>
            </a:pPr>
            <a:r>
              <a:t>LITERATURE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13232"/>
            <a:ext cx="8595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F6FAFC"/>
                </a:solidFill>
                <a:latin typeface="Aptos Display"/>
              </a:defRPr>
            </a:pPr>
            <a:r>
              <a:t>Dermatology AI: methods and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35440" y="475488"/>
            <a:ext cx="2286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B5CCD5"/>
                </a:solidFill>
                <a:latin typeface="Aptos"/>
              </a:defRPr>
            </a:pPr>
            <a:r>
              <a:t>05  /  DERMTRACK AGENT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99032"/>
            <a:ext cx="658368" cy="54864"/>
          </a:xfrm>
          <a:prstGeom prst="rect">
            <a:avLst/>
          </a:prstGeom>
          <a:solidFill>
            <a:srgbClr val="FF7E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1545336"/>
            <a:ext cx="108356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B5CCD5"/>
                </a:solidFill>
                <a:latin typeface="Aptos"/>
              </a:defRPr>
            </a:pPr>
            <a:r>
              <a:t>These papers establish the opportunity while highlighting generalization, skin-tone fairness, and diagnostic-risk concerns.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993392"/>
          <a:ext cx="11183112" cy="3611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13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677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5564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9514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722376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Paper</a:t>
                      </a:r>
                    </a:p>
                  </a:txBody>
                  <a:tcPr marL="73152" marR="54864" marT="36576" marB="36576" anchor="ctr">
                    <a:solidFill>
                      <a:srgbClr val="14435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Method</a:t>
                      </a:r>
                    </a:p>
                  </a:txBody>
                  <a:tcPr marL="73152" marR="54864" marT="36576" marB="36576" anchor="ctr">
                    <a:solidFill>
                      <a:srgbClr val="14435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Dataset / evaluation</a:t>
                      </a:r>
                    </a:p>
                  </a:txBody>
                  <a:tcPr marL="73152" marR="54864" marT="36576" marB="36576" anchor="ctr">
                    <a:solidFill>
                      <a:srgbClr val="14435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Major findings</a:t>
                      </a:r>
                    </a:p>
                  </a:txBody>
                  <a:tcPr marL="73152" marR="54864" marT="36576" marB="36576" anchor="ctr">
                    <a:solidFill>
                      <a:srgbClr val="14435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Performance / evidence</a:t>
                      </a:r>
                    </a:p>
                  </a:txBody>
                  <a:tcPr marL="73152" marR="54864" marT="36576" marB="36576" anchor="ctr">
                    <a:solidFill>
                      <a:srgbClr val="14435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Limitations</a:t>
                      </a:r>
                    </a:p>
                  </a:txBody>
                  <a:tcPr marL="73152" marR="54864" marT="36576" marB="36576" anchor="ctr">
                    <a:solidFill>
                      <a:srgbClr val="1443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2376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40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Liu et al.</a:t>
                      </a:r>
                    </a:p>
                    <a:p>
                      <a:pPr algn="l">
                        <a:spcAft>
                          <a:spcPts val="0"/>
                        </a:spcAft>
                        <a:defRPr sz="840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Nature Medicine (2020)</a:t>
                      </a:r>
                    </a:p>
                  </a:txBody>
                  <a:tcPr marL="73152" marR="54864" marT="54864" marB="36576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40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Deep-learning differential diagnosis from clinical skin images.</a:t>
                      </a:r>
                    </a:p>
                  </a:txBody>
                  <a:tcPr marL="73152" marR="54864" marT="54864" marB="36576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40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Clinical dermatology image datasets; internal and external evaluation.</a:t>
                      </a:r>
                    </a:p>
                  </a:txBody>
                  <a:tcPr marL="73152" marR="54864" marT="54864" marB="36576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40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Shows the feasibility of automated differential diagnosis across multiple skin conditions.</a:t>
                      </a:r>
                    </a:p>
                  </a:txBody>
                  <a:tcPr marL="73152" marR="54864" marT="54864" marB="36576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40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Strong reported image-classification results; clinician comparison included.</a:t>
                      </a:r>
                    </a:p>
                  </a:txBody>
                  <a:tcPr marL="73152" marR="54864" marT="54864" marB="36576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40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Dataset shift, image quality, subgroup coverage, and diagnosis-risk concerns.</a:t>
                      </a:r>
                    </a:p>
                  </a:txBody>
                  <a:tcPr marL="73152" marR="54864" marT="54864" marB="36576">
                    <a:solidFill>
                      <a:srgbClr val="102A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22376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40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Daneshjou et al.</a:t>
                      </a:r>
                    </a:p>
                    <a:p>
                      <a:pPr algn="l">
                        <a:spcAft>
                          <a:spcPts val="0"/>
                        </a:spcAft>
                        <a:defRPr sz="840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Science Advances (2022)</a:t>
                      </a:r>
                    </a:p>
                  </a:txBody>
                  <a:tcPr marL="73152" marR="54864" marT="54864" marB="36576">
                    <a:solidFill>
                      <a:srgbClr val="13334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40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Evaluates dermatology AI across skin-tone groups using a curated clinical set.</a:t>
                      </a:r>
                    </a:p>
                  </a:txBody>
                  <a:tcPr marL="73152" marR="54864" marT="54864" marB="36576">
                    <a:solidFill>
                      <a:srgbClr val="13334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40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DDI: Diverse Dermatology Images dataset; subgroup evaluation.</a:t>
                      </a:r>
                    </a:p>
                  </a:txBody>
                  <a:tcPr marL="73152" marR="54864" marT="54864" marB="36576">
                    <a:solidFill>
                      <a:srgbClr val="13334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40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Performance disparities were observed across skin-tone groups.</a:t>
                      </a:r>
                    </a:p>
                  </a:txBody>
                  <a:tcPr marL="73152" marR="54864" marT="54864" marB="36576">
                    <a:solidFill>
                      <a:srgbClr val="13334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40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Demonstrates that aggregate performance can hide subgroup underperformance.</a:t>
                      </a:r>
                    </a:p>
                  </a:txBody>
                  <a:tcPr marL="73152" marR="54864" marT="54864" marB="36576">
                    <a:solidFill>
                      <a:srgbClr val="13334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40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Limited dataset size and representativeness; benchmark fairness ≠ clinical fairness.</a:t>
                      </a:r>
                    </a:p>
                  </a:txBody>
                  <a:tcPr marL="73152" marR="54864" marT="54864" marB="36576">
                    <a:solidFill>
                      <a:srgbClr val="13334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22376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40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Yan et al.</a:t>
                      </a:r>
                    </a:p>
                    <a:p>
                      <a:pPr algn="l">
                        <a:spcAft>
                          <a:spcPts val="0"/>
                        </a:spcAft>
                        <a:defRPr sz="840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Nature Medicine (2025)</a:t>
                      </a:r>
                    </a:p>
                  </a:txBody>
                  <a:tcPr marL="73152" marR="54864" marT="54864" marB="36576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40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Multimodal vision foundation model for clinical dermatology.</a:t>
                      </a:r>
                    </a:p>
                  </a:txBody>
                  <a:tcPr marL="73152" marR="54864" marT="54864" marB="36576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40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Multi-source dermatology image–text evaluations; model and clinician tasks.</a:t>
                      </a:r>
                    </a:p>
                  </a:txBody>
                  <a:tcPr marL="73152" marR="54864" marT="54864" marB="36576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40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Shows the promise of foundation-model transfer across dermatology tasks.</a:t>
                      </a:r>
                    </a:p>
                  </a:txBody>
                  <a:tcPr marL="73152" marR="54864" marT="54864" marB="36576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40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Reports benchmark and clinician-oriented evaluations; exact metrics require full-text extraction.</a:t>
                      </a:r>
                    </a:p>
                  </a:txBody>
                  <a:tcPr marL="73152" marR="54864" marT="54864" marB="36576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40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Foundation-model opacity, dataset bias, hallucination, and prospective validation needs.</a:t>
                      </a:r>
                    </a:p>
                  </a:txBody>
                  <a:tcPr marL="73152" marR="54864" marT="54864" marB="36576">
                    <a:solidFill>
                      <a:srgbClr val="102A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22376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40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Zhou et al.</a:t>
                      </a:r>
                    </a:p>
                    <a:p>
                      <a:pPr algn="l">
                        <a:spcAft>
                          <a:spcPts val="0"/>
                        </a:spcAft>
                        <a:defRPr sz="840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Nature Communications (2024)</a:t>
                      </a:r>
                    </a:p>
                  </a:txBody>
                  <a:tcPr marL="73152" marR="54864" marT="54864" marB="36576">
                    <a:solidFill>
                      <a:srgbClr val="13334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40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Pre-trained multimodal LLM, SkinGPT-4, for dermatology image–text reasoning.</a:t>
                      </a:r>
                    </a:p>
                  </a:txBody>
                  <a:tcPr marL="73152" marR="54864" marT="54864" marB="36576">
                    <a:solidFill>
                      <a:srgbClr val="13334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40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Dermatology image–text data and diagnostic evaluation tasks.</a:t>
                      </a:r>
                    </a:p>
                  </a:txBody>
                  <a:tcPr marL="73152" marR="54864" marT="54864" marB="36576">
                    <a:solidFill>
                      <a:srgbClr val="13334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40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Demonstrates multimodal generation for dermatological descriptions and predictions.</a:t>
                      </a:r>
                    </a:p>
                  </a:txBody>
                  <a:tcPr marL="73152" marR="54864" marT="54864" marB="36576">
                    <a:solidFill>
                      <a:srgbClr val="13334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40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Reports diagnostic and generation evaluations; not evidence of autonomous clinical safety.</a:t>
                      </a:r>
                    </a:p>
                  </a:txBody>
                  <a:tcPr marL="73152" marR="54864" marT="54864" marB="36576">
                    <a:solidFill>
                      <a:srgbClr val="13334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40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Possible hallucinations, limited generalization, and diagnosis may overstate capability.</a:t>
                      </a:r>
                    </a:p>
                  </a:txBody>
                  <a:tcPr marL="73152" marR="54864" marT="54864" marB="36576">
                    <a:solidFill>
                      <a:srgbClr val="13334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58368" y="5879592"/>
            <a:ext cx="10835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0">
                <a:solidFill>
                  <a:srgbClr val="B5CCD5"/>
                </a:solidFill>
                <a:latin typeface="Aptos"/>
              </a:defRPr>
            </a:pPr>
            <a:r>
              <a:t>Comparison is based on the selected source's stated task and evaluation setting; benchmark success is not equivalent to clinical validation.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420624"/>
            <a:ext cx="4114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23C2B0"/>
                </a:solidFill>
                <a:latin typeface="Aptos"/>
              </a:defRPr>
            </a:pPr>
            <a:r>
              <a:t>LITERATURE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13232"/>
            <a:ext cx="8595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F6FAFC"/>
                </a:solidFill>
                <a:latin typeface="Aptos Display"/>
              </a:defRPr>
            </a:pPr>
            <a:r>
              <a:t>RAG, clinical AI, and governance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35440" y="475488"/>
            <a:ext cx="2286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B5CCD5"/>
                </a:solidFill>
                <a:latin typeface="Aptos"/>
              </a:defRPr>
            </a:pPr>
            <a:r>
              <a:t>06  /  DERMTRACK AGENT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99032"/>
            <a:ext cx="658368" cy="54864"/>
          </a:xfrm>
          <a:prstGeom prst="rect">
            <a:avLst/>
          </a:prstGeom>
          <a:solidFill>
            <a:srgbClr val="FF7E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1545336"/>
            <a:ext cx="108356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B5CCD5"/>
                </a:solidFill>
                <a:latin typeface="Aptos"/>
              </a:defRPr>
            </a:pPr>
            <a:r>
              <a:t>These sources support DermTrack's grounded, privacy-conscious, non-diagnostic and human-supervised design.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993392"/>
          <a:ext cx="11183112" cy="3611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13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677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5564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9514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722376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Paper</a:t>
                      </a:r>
                    </a:p>
                  </a:txBody>
                  <a:tcPr marL="73152" marR="54864" marT="36576" marB="36576" anchor="ctr">
                    <a:solidFill>
                      <a:srgbClr val="14435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Method</a:t>
                      </a:r>
                    </a:p>
                  </a:txBody>
                  <a:tcPr marL="73152" marR="54864" marT="36576" marB="36576" anchor="ctr">
                    <a:solidFill>
                      <a:srgbClr val="14435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Dataset / evaluation</a:t>
                      </a:r>
                    </a:p>
                  </a:txBody>
                  <a:tcPr marL="73152" marR="54864" marT="36576" marB="36576" anchor="ctr">
                    <a:solidFill>
                      <a:srgbClr val="14435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Major findings</a:t>
                      </a:r>
                    </a:p>
                  </a:txBody>
                  <a:tcPr marL="73152" marR="54864" marT="36576" marB="36576" anchor="ctr">
                    <a:solidFill>
                      <a:srgbClr val="14435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Performance / evidence</a:t>
                      </a:r>
                    </a:p>
                  </a:txBody>
                  <a:tcPr marL="73152" marR="54864" marT="36576" marB="36576" anchor="ctr">
                    <a:solidFill>
                      <a:srgbClr val="14435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Limitations</a:t>
                      </a:r>
                    </a:p>
                  </a:txBody>
                  <a:tcPr marL="73152" marR="54864" marT="36576" marB="36576" anchor="ctr">
                    <a:solidFill>
                      <a:srgbClr val="1443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2376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40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Lewis et al.</a:t>
                      </a:r>
                    </a:p>
                    <a:p>
                      <a:pPr algn="l">
                        <a:spcAft>
                          <a:spcPts val="0"/>
                        </a:spcAft>
                        <a:defRPr sz="840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NeurIPS (2020)</a:t>
                      </a:r>
                    </a:p>
                  </a:txBody>
                  <a:tcPr marL="73152" marR="54864" marT="54864" marB="36576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40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Retrieval-Augmented Generation combines a retriever with a generator.</a:t>
                      </a:r>
                    </a:p>
                  </a:txBody>
                  <a:tcPr marL="73152" marR="54864" marT="54864" marB="36576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40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Knowledge-intensive NLP benchmarks including open-domain QA tasks.</a:t>
                      </a:r>
                    </a:p>
                  </a:txBody>
                  <a:tcPr marL="73152" marR="54864" marT="54864" marB="36576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40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External evidence can complement parametric model knowledge.</a:t>
                      </a:r>
                    </a:p>
                  </a:txBody>
                  <a:tcPr marL="73152" marR="54864" marT="54864" marB="36576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40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RAG improved results on several knowledge-intensive tasks in the original study.</a:t>
                      </a:r>
                    </a:p>
                  </a:txBody>
                  <a:tcPr marL="73152" marR="54864" marT="54864" marB="36576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40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Retrieval quality, stale sources, irrelevant context, and unsupported synthesis.</a:t>
                      </a:r>
                    </a:p>
                  </a:txBody>
                  <a:tcPr marL="73152" marR="54864" marT="54864" marB="36576">
                    <a:solidFill>
                      <a:srgbClr val="102A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22376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40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Xiong et al.</a:t>
                      </a:r>
                    </a:p>
                    <a:p>
                      <a:pPr algn="l">
                        <a:spcAft>
                          <a:spcPts val="0"/>
                        </a:spcAft>
                        <a:defRPr sz="840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Findings of ACL (2024)</a:t>
                      </a:r>
                    </a:p>
                  </a:txBody>
                  <a:tcPr marL="73152" marR="54864" marT="54864" marB="36576">
                    <a:solidFill>
                      <a:srgbClr val="13334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40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Medical RAG with domain retrievers, knowledge bases, and context construction.</a:t>
                      </a:r>
                    </a:p>
                  </a:txBody>
                  <a:tcPr marL="73152" marR="54864" marT="54864" marB="36576">
                    <a:solidFill>
                      <a:srgbClr val="13334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40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MedQA, MedMCQA, PubMedQA, and other medical QA benchmarks.</a:t>
                      </a:r>
                    </a:p>
                  </a:txBody>
                  <a:tcPr marL="73152" marR="54864" marT="54864" marB="36576">
                    <a:solidFill>
                      <a:srgbClr val="13334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40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Medical retrieval often improves QA, but configuration and corpus choice matter.</a:t>
                      </a:r>
                    </a:p>
                  </a:txBody>
                  <a:tcPr marL="73152" marR="54864" marT="54864" marB="36576">
                    <a:solidFill>
                      <a:srgbClr val="13334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40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Benchmark accuracy improves in many RAG settings; not a clinical-safety metric.</a:t>
                      </a:r>
                    </a:p>
                  </a:txBody>
                  <a:tcPr marL="73152" marR="54864" marT="54864" marB="36576">
                    <a:solidFill>
                      <a:srgbClr val="13334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40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Multiple-choice benchmarks do not measure triage, calibration, or patient harm.</a:t>
                      </a:r>
                    </a:p>
                  </a:txBody>
                  <a:tcPr marL="73152" marR="54864" marT="54864" marB="36576">
                    <a:solidFill>
                      <a:srgbClr val="13334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22376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40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Zakka et al.</a:t>
                      </a:r>
                    </a:p>
                    <a:p>
                      <a:pPr algn="l">
                        <a:spcAft>
                          <a:spcPts val="0"/>
                        </a:spcAft>
                        <a:defRPr sz="840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NEJM AI (2024)</a:t>
                      </a:r>
                    </a:p>
                  </a:txBody>
                  <a:tcPr marL="73152" marR="54864" marT="54864" marB="36576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40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Almanac: LLM connected to retrieved medical references and clinical tools.</a:t>
                      </a:r>
                    </a:p>
                  </a:txBody>
                  <a:tcPr marL="73152" marR="54864" marT="54864" marB="36576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40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Medical QA benchmarks plus expert assessment.</a:t>
                      </a:r>
                    </a:p>
                  </a:txBody>
                  <a:tcPr marL="73152" marR="54864" marT="54864" marB="36576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40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Grounding can improve factual support and clinical answer quality.</a:t>
                      </a:r>
                    </a:p>
                  </a:txBody>
                  <a:tcPr marL="73152" marR="54864" marT="54864" marB="36576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40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Reported gains over standalone generation in evaluated medical tasks.</a:t>
                      </a:r>
                    </a:p>
                  </a:txBody>
                  <a:tcPr marL="73152" marR="54864" marT="54864" marB="36576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40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Corpus coverage, retrieval errors, limited expert evaluation, and no deployment validation.</a:t>
                      </a:r>
                    </a:p>
                  </a:txBody>
                  <a:tcPr marL="73152" marR="54864" marT="54864" marB="36576">
                    <a:solidFill>
                      <a:srgbClr val="102A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22376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40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WHO (2021)</a:t>
                      </a:r>
                    </a:p>
                    <a:p>
                      <a:pPr algn="l">
                        <a:spcAft>
                          <a:spcPts val="0"/>
                        </a:spcAft>
                        <a:defRPr sz="840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Governance report</a:t>
                      </a:r>
                    </a:p>
                  </a:txBody>
                  <a:tcPr marL="73152" marR="54864" marT="54864" marB="36576">
                    <a:solidFill>
                      <a:srgbClr val="13334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40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Ethical and governance framework for AI in health.</a:t>
                      </a:r>
                    </a:p>
                  </a:txBody>
                  <a:tcPr marL="73152" marR="54864" marT="54864" marB="36576">
                    <a:solidFill>
                      <a:srgbClr val="13334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40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No experimental dataset; evidence synthesis and expert consultation.</a:t>
                      </a:r>
                    </a:p>
                  </a:txBody>
                  <a:tcPr marL="73152" marR="54864" marT="54864" marB="36576">
                    <a:solidFill>
                      <a:srgbClr val="13334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40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Calls for human control, transparency, privacy, equity, and accountability.</a:t>
                      </a:r>
                    </a:p>
                  </a:txBody>
                  <a:tcPr marL="73152" marR="54864" marT="54864" marB="36576">
                    <a:solidFill>
                      <a:srgbClr val="13334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40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No numerical performance; provides safety and governance requirements.</a:t>
                      </a:r>
                    </a:p>
                  </a:txBody>
                  <a:tcPr marL="73152" marR="54864" marT="54864" marB="36576">
                    <a:solidFill>
                      <a:srgbClr val="13334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40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Normative guidance must be translated into concrete product controls and audits.</a:t>
                      </a:r>
                    </a:p>
                  </a:txBody>
                  <a:tcPr marL="73152" marR="54864" marT="54864" marB="36576">
                    <a:solidFill>
                      <a:srgbClr val="13334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58368" y="5879592"/>
            <a:ext cx="10835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0">
                <a:solidFill>
                  <a:srgbClr val="B5CCD5"/>
                </a:solidFill>
                <a:latin typeface="Aptos"/>
              </a:defRPr>
            </a:pPr>
            <a:r>
              <a:t>Comparison is based on the selected source's stated task and evaluation setting; benchmark success is not equivalent to clinical validation.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420624"/>
            <a:ext cx="3200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23C2B0"/>
                </a:solidFill>
                <a:latin typeface="Aptos"/>
              </a:defRPr>
            </a:pPr>
            <a:r>
              <a:t>RESEARCH GAP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13232"/>
            <a:ext cx="8961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F6FAFC"/>
                </a:solidFill>
                <a:latin typeface="Aptos Display"/>
              </a:defRPr>
            </a:pPr>
            <a:r>
              <a:t>What existing approaches still leave unresolved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35440" y="475488"/>
            <a:ext cx="2286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B5CCD5"/>
                </a:solidFill>
                <a:latin typeface="Aptos"/>
              </a:defRPr>
            </a:pPr>
            <a:r>
              <a:t>07  /  DERMTRACK AGENT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99032"/>
            <a:ext cx="658368" cy="54864"/>
          </a:xfrm>
          <a:prstGeom prst="rect">
            <a:avLst/>
          </a:prstGeom>
          <a:solidFill>
            <a:srgbClr val="FF7E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1545336"/>
            <a:ext cx="106984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B5CCD5"/>
                </a:solidFill>
                <a:latin typeface="Aptos"/>
              </a:defRPr>
            </a:pPr>
            <a:r>
              <a:t>The literature shows strong progress, but many systems solve only one part of the dermatology-support problem.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057400"/>
            <a:ext cx="3401568" cy="1417320"/>
          </a:xfrm>
          <a:prstGeom prst="roundRect">
            <a:avLst/>
          </a:prstGeom>
          <a:solidFill>
            <a:srgbClr val="102A43"/>
          </a:solidFill>
          <a:ln w="12700">
            <a:solidFill>
              <a:srgbClr val="345B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886968" y="2258568"/>
            <a:ext cx="420624" cy="420624"/>
          </a:xfrm>
          <a:prstGeom prst="ellipse">
            <a:avLst/>
          </a:prstGeom>
          <a:solidFill>
            <a:srgbClr val="23C2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86968" y="2327148"/>
            <a:ext cx="420624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0A192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2286000"/>
            <a:ext cx="236829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6FAFC"/>
                </a:solidFill>
                <a:latin typeface="Aptos"/>
              </a:defRPr>
            </a:pPr>
            <a:r>
              <a:t>Image-only focus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807208"/>
            <a:ext cx="2889504" cy="4846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B5CCD5"/>
                </a:solidFill>
                <a:latin typeface="Aptos"/>
              </a:defRPr>
            </a:pPr>
            <a:r>
              <a:t>Many systems classify images but do not combine symptoms, history, medications, and patient context in one workflow.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2057400"/>
            <a:ext cx="3401568" cy="1417320"/>
          </a:xfrm>
          <a:prstGeom prst="roundRect">
            <a:avLst/>
          </a:prstGeom>
          <a:solidFill>
            <a:srgbClr val="102A43"/>
          </a:solidFill>
          <a:ln w="12700">
            <a:solidFill>
              <a:srgbClr val="345B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4617720" y="2258568"/>
            <a:ext cx="420624" cy="420624"/>
          </a:xfrm>
          <a:prstGeom prst="ellipse">
            <a:avLst/>
          </a:prstGeom>
          <a:solidFill>
            <a:srgbClr val="FF7E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617720" y="2327148"/>
            <a:ext cx="420624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0A192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93792" y="2286000"/>
            <a:ext cx="236829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6FAFC"/>
                </a:solidFill>
                <a:latin typeface="Aptos"/>
              </a:defRPr>
            </a:pPr>
            <a:r>
              <a:t>Unsafe generation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45152" y="2807208"/>
            <a:ext cx="2889504" cy="4846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B5CCD5"/>
                </a:solidFill>
                <a:latin typeface="Aptos"/>
              </a:defRPr>
            </a:pPr>
            <a:r>
              <a:t>Language models can produce fluent but unsupported medical content, even when the answer sounds confident.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19872" y="2057400"/>
            <a:ext cx="3401568" cy="1417320"/>
          </a:xfrm>
          <a:prstGeom prst="roundRect">
            <a:avLst/>
          </a:prstGeom>
          <a:solidFill>
            <a:srgbClr val="102A43"/>
          </a:solidFill>
          <a:ln w="12700">
            <a:solidFill>
              <a:srgbClr val="345B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8348472" y="2258568"/>
            <a:ext cx="420624" cy="420624"/>
          </a:xfrm>
          <a:prstGeom prst="ellipse">
            <a:avLst/>
          </a:prstGeom>
          <a:solidFill>
            <a:srgbClr val="23C2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348472" y="2327148"/>
            <a:ext cx="420624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0A192F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24544" y="2286000"/>
            <a:ext cx="236829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6FAFC"/>
                </a:solidFill>
                <a:latin typeface="Aptos"/>
              </a:defRPr>
            </a:pPr>
            <a:r>
              <a:t>Benchmark gap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75904" y="2807208"/>
            <a:ext cx="2889504" cy="4846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B5CCD5"/>
                </a:solidFill>
                <a:latin typeface="Aptos"/>
              </a:defRPr>
            </a:pPr>
            <a:r>
              <a:t>High accuracy on static datasets does not prove safe triage, calibration, usability, or clinical effectiveness.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3794760"/>
            <a:ext cx="3401568" cy="1417320"/>
          </a:xfrm>
          <a:prstGeom prst="roundRect">
            <a:avLst/>
          </a:prstGeom>
          <a:solidFill>
            <a:srgbClr val="102A43"/>
          </a:solidFill>
          <a:ln w="12700">
            <a:solidFill>
              <a:srgbClr val="345B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886968" y="3995928"/>
            <a:ext cx="420624" cy="420624"/>
          </a:xfrm>
          <a:prstGeom prst="ellipse">
            <a:avLst/>
          </a:prstGeom>
          <a:solidFill>
            <a:srgbClr val="FF7E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86968" y="4064508"/>
            <a:ext cx="420624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0A192F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63040" y="4023360"/>
            <a:ext cx="236829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6FAFC"/>
                </a:solidFill>
                <a:latin typeface="Aptos"/>
              </a:defRPr>
            </a:pPr>
            <a:r>
              <a:t>Representation gap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4544568"/>
            <a:ext cx="2889504" cy="4846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B5CCD5"/>
                </a:solidFill>
                <a:latin typeface="Aptos"/>
              </a:defRPr>
            </a:pPr>
            <a:r>
              <a:t>Skin-tone imbalance, label quality, and dataset shift can reduce reliability for underrepresented groups.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389120" y="3794760"/>
            <a:ext cx="3401568" cy="1417320"/>
          </a:xfrm>
          <a:prstGeom prst="roundRect">
            <a:avLst/>
          </a:prstGeom>
          <a:solidFill>
            <a:srgbClr val="102A43"/>
          </a:solidFill>
          <a:ln w="12700">
            <a:solidFill>
              <a:srgbClr val="345B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4617720" y="3995928"/>
            <a:ext cx="420624" cy="420624"/>
          </a:xfrm>
          <a:prstGeom prst="ellipse">
            <a:avLst/>
          </a:prstGeom>
          <a:solidFill>
            <a:srgbClr val="23C2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617720" y="4064508"/>
            <a:ext cx="420624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0A192F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193792" y="4023360"/>
            <a:ext cx="236829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6FAFC"/>
                </a:solidFill>
                <a:latin typeface="Aptos"/>
              </a:defRPr>
            </a:pPr>
            <a:r>
              <a:t>Evidence gap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45152" y="4544568"/>
            <a:ext cx="2889504" cy="4846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B5CCD5"/>
                </a:solidFill>
                <a:latin typeface="Aptos"/>
              </a:defRPr>
            </a:pPr>
            <a:r>
              <a:t>Retrieval can fail through irrelevant, incomplete, stale, or weakly sourced medical information.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119872" y="3794760"/>
            <a:ext cx="3401568" cy="1417320"/>
          </a:xfrm>
          <a:prstGeom prst="roundRect">
            <a:avLst/>
          </a:prstGeom>
          <a:solidFill>
            <a:srgbClr val="102A43"/>
          </a:solidFill>
          <a:ln w="12700">
            <a:solidFill>
              <a:srgbClr val="345B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8348472" y="3995928"/>
            <a:ext cx="420624" cy="420624"/>
          </a:xfrm>
          <a:prstGeom prst="ellipse">
            <a:avLst/>
          </a:prstGeom>
          <a:solidFill>
            <a:srgbClr val="FF7E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348472" y="4064508"/>
            <a:ext cx="420624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0A192F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924544" y="4023360"/>
            <a:ext cx="236829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6FAFC"/>
                </a:solidFill>
                <a:latin typeface="Aptos"/>
              </a:defRPr>
            </a:pPr>
            <a:r>
              <a:t>Continuity gap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75904" y="4544568"/>
            <a:ext cx="2889504" cy="4846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B5CCD5"/>
                </a:solidFill>
                <a:latin typeface="Aptos"/>
              </a:defRPr>
            </a:pPr>
            <a:r>
              <a:t>Many prototypes do not preserve structured, longitudinal consultation history for follow-up context.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8" y="5815584"/>
            <a:ext cx="108356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50" b="1">
                <a:solidFill>
                  <a:srgbClr val="F6FAFC"/>
                </a:solidFill>
                <a:latin typeface="Aptos"/>
              </a:defRPr>
            </a:pPr>
            <a:r>
              <a:t>Research gap: there is a need for a bounded end-to-end support workflow—not just a better image classifier or a larger language model.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420624"/>
            <a:ext cx="3200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23C2B0"/>
                </a:solidFill>
                <a:latin typeface="Aptos"/>
              </a:defRPr>
            </a:pPr>
            <a:r>
              <a:t>RESEARCH GAP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13232"/>
            <a:ext cx="8961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F6FAFC"/>
                </a:solidFill>
                <a:latin typeface="Aptos Display"/>
              </a:defRPr>
            </a:pPr>
            <a:r>
              <a:t>DermTrack's response to the research gap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35440" y="475488"/>
            <a:ext cx="2286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B5CCD5"/>
                </a:solidFill>
                <a:latin typeface="Aptos"/>
              </a:defRPr>
            </a:pPr>
            <a:r>
              <a:t>08  /  DERMTRACK AGENT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99032"/>
            <a:ext cx="658368" cy="54864"/>
          </a:xfrm>
          <a:prstGeom prst="rect">
            <a:avLst/>
          </a:prstGeom>
          <a:solidFill>
            <a:srgbClr val="FF7E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1545336"/>
            <a:ext cx="106984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B5CCD5"/>
                </a:solidFill>
                <a:latin typeface="Aptos"/>
              </a:defRPr>
            </a:pPr>
            <a:r>
              <a:t>DermTrack addresses the gap by integrating complementary components while keeping the system non-diagnostic and human-supervised.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2039112"/>
            <a:ext cx="82296" cy="475488"/>
          </a:xfrm>
          <a:prstGeom prst="rect">
            <a:avLst/>
          </a:prstGeom>
          <a:solidFill>
            <a:srgbClr val="23C2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40664" y="2039112"/>
            <a:ext cx="10789920" cy="475488"/>
          </a:xfrm>
          <a:prstGeom prst="rect">
            <a:avLst/>
          </a:prstGeom>
          <a:solidFill>
            <a:srgbClr val="102A43"/>
          </a:solidFill>
          <a:ln w="6350">
            <a:solidFill>
              <a:srgbClr val="345B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60120" y="2157984"/>
            <a:ext cx="19659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1">
                <a:solidFill>
                  <a:srgbClr val="23C2B0"/>
                </a:solidFill>
                <a:latin typeface="Aptos"/>
              </a:defRPr>
            </a:pPr>
            <a:r>
              <a:t>Patient context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54680" y="2139696"/>
            <a:ext cx="352044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1">
                <a:solidFill>
                  <a:srgbClr val="F6FAFC"/>
                </a:solidFill>
                <a:latin typeface="Aptos"/>
              </a:defRPr>
            </a:pPr>
            <a:r>
              <a:t>Structured intake + symptom/history fields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86600" y="2139696"/>
            <a:ext cx="406908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B5CCD5"/>
                </a:solidFill>
                <a:latin typeface="Aptos"/>
              </a:defRPr>
            </a:pPr>
            <a:r>
              <a:t>Moves beyond image-only analysis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" y="2606040"/>
            <a:ext cx="82296" cy="475488"/>
          </a:xfrm>
          <a:prstGeom prst="rect">
            <a:avLst/>
          </a:prstGeom>
          <a:solidFill>
            <a:srgbClr val="FF7E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40664" y="2606040"/>
            <a:ext cx="10789920" cy="475488"/>
          </a:xfrm>
          <a:prstGeom prst="rect">
            <a:avLst/>
          </a:prstGeom>
          <a:solidFill>
            <a:srgbClr val="13334C"/>
          </a:solidFill>
          <a:ln w="6350">
            <a:solidFill>
              <a:srgbClr val="345B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60120" y="2724912"/>
            <a:ext cx="19659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1">
                <a:solidFill>
                  <a:srgbClr val="FF7E67"/>
                </a:solidFill>
                <a:latin typeface="Aptos"/>
              </a:defRPr>
            </a:pPr>
            <a:r>
              <a:t>Grounded answers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54680" y="2706624"/>
            <a:ext cx="352044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1">
                <a:solidFill>
                  <a:srgbClr val="F6FAFC"/>
                </a:solidFill>
                <a:latin typeface="Aptos"/>
              </a:defRPr>
            </a:pPr>
            <a:r>
              <a:t>Local trusted RAG + source metadata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86600" y="2706624"/>
            <a:ext cx="406908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B5CCD5"/>
                </a:solidFill>
                <a:latin typeface="Aptos"/>
              </a:defRPr>
            </a:pPr>
            <a:r>
              <a:t>Reduces unsupported medical generation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8" y="3172968"/>
            <a:ext cx="82296" cy="475488"/>
          </a:xfrm>
          <a:prstGeom prst="rect">
            <a:avLst/>
          </a:prstGeom>
          <a:solidFill>
            <a:srgbClr val="23C2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40664" y="3172968"/>
            <a:ext cx="10789920" cy="475488"/>
          </a:xfrm>
          <a:prstGeom prst="rect">
            <a:avLst/>
          </a:prstGeom>
          <a:solidFill>
            <a:srgbClr val="102A43"/>
          </a:solidFill>
          <a:ln w="6350">
            <a:solidFill>
              <a:srgbClr val="345B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60120" y="3291839"/>
            <a:ext cx="19659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1">
                <a:solidFill>
                  <a:srgbClr val="23C2B0"/>
                </a:solidFill>
                <a:latin typeface="Aptos"/>
              </a:defRPr>
            </a:pPr>
            <a:r>
              <a:t>Current information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54680" y="3273551"/>
            <a:ext cx="352044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1">
                <a:solidFill>
                  <a:srgbClr val="F6FAFC"/>
                </a:solidFill>
                <a:latin typeface="Aptos"/>
              </a:defRPr>
            </a:pPr>
            <a:r>
              <a:t>Conditional Tavily research with de-identified queries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86600" y="3273551"/>
            <a:ext cx="406908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B5CCD5"/>
                </a:solidFill>
                <a:latin typeface="Aptos"/>
              </a:defRPr>
            </a:pPr>
            <a:r>
              <a:t>Adds bounded, optional web evidence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" y="3739896"/>
            <a:ext cx="82296" cy="475488"/>
          </a:xfrm>
          <a:prstGeom prst="rect">
            <a:avLst/>
          </a:prstGeom>
          <a:solidFill>
            <a:srgbClr val="FF7E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740664" y="3739896"/>
            <a:ext cx="10789920" cy="475488"/>
          </a:xfrm>
          <a:prstGeom prst="rect">
            <a:avLst/>
          </a:prstGeom>
          <a:solidFill>
            <a:srgbClr val="13334C"/>
          </a:solidFill>
          <a:ln w="6350">
            <a:solidFill>
              <a:srgbClr val="345B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60120" y="3858768"/>
            <a:ext cx="19659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1">
                <a:solidFill>
                  <a:srgbClr val="FF7E67"/>
                </a:solidFill>
                <a:latin typeface="Aptos"/>
              </a:defRPr>
            </a:pPr>
            <a:r>
              <a:t>Safety first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154680" y="3840480"/>
            <a:ext cx="352044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1">
                <a:solidFill>
                  <a:srgbClr val="F6FAFC"/>
                </a:solidFill>
                <a:latin typeface="Aptos"/>
              </a:defRPr>
            </a:pPr>
            <a:r>
              <a:t>Red-flag triage + explicit non-diagnostic boundaries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86600" y="3840480"/>
            <a:ext cx="406908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B5CCD5"/>
                </a:solidFill>
                <a:latin typeface="Aptos"/>
              </a:defRPr>
            </a:pPr>
            <a:r>
              <a:t>Prioritizes escalation over false reassurance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4306824"/>
            <a:ext cx="82296" cy="475488"/>
          </a:xfrm>
          <a:prstGeom prst="rect">
            <a:avLst/>
          </a:prstGeom>
          <a:solidFill>
            <a:srgbClr val="23C2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740664" y="4306824"/>
            <a:ext cx="10789920" cy="475488"/>
          </a:xfrm>
          <a:prstGeom prst="rect">
            <a:avLst/>
          </a:prstGeom>
          <a:solidFill>
            <a:srgbClr val="102A43"/>
          </a:solidFill>
          <a:ln w="6350">
            <a:solidFill>
              <a:srgbClr val="345B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60120" y="4425696"/>
            <a:ext cx="19659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1">
                <a:solidFill>
                  <a:srgbClr val="23C2B0"/>
                </a:solidFill>
                <a:latin typeface="Aptos"/>
              </a:defRPr>
            </a:pPr>
            <a:r>
              <a:t>Continuity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154680" y="4407408"/>
            <a:ext cx="352044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1">
                <a:solidFill>
                  <a:srgbClr val="F6FAFC"/>
                </a:solidFill>
                <a:latin typeface="Aptos"/>
              </a:defRPr>
            </a:pPr>
            <a:r>
              <a:t>MongoDB consultation records + GridFS images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86600" y="4407408"/>
            <a:ext cx="406908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B5CCD5"/>
                </a:solidFill>
                <a:latin typeface="Aptos"/>
              </a:defRPr>
            </a:pPr>
            <a:r>
              <a:t>Preserves organized longitudinal context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58368" y="4873752"/>
            <a:ext cx="82296" cy="475488"/>
          </a:xfrm>
          <a:prstGeom prst="rect">
            <a:avLst/>
          </a:prstGeom>
          <a:solidFill>
            <a:srgbClr val="FF7E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740664" y="4873752"/>
            <a:ext cx="10789920" cy="475488"/>
          </a:xfrm>
          <a:prstGeom prst="rect">
            <a:avLst/>
          </a:prstGeom>
          <a:solidFill>
            <a:srgbClr val="13334C"/>
          </a:solidFill>
          <a:ln w="6350">
            <a:solidFill>
              <a:srgbClr val="345B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60120" y="4992624"/>
            <a:ext cx="19659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1">
                <a:solidFill>
                  <a:srgbClr val="FF7E67"/>
                </a:solidFill>
                <a:latin typeface="Aptos"/>
              </a:defRPr>
            </a:pPr>
            <a:r>
              <a:t>Responsible deployment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154680" y="4974336"/>
            <a:ext cx="352044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1">
                <a:solidFill>
                  <a:srgbClr val="F6FAFC"/>
                </a:solidFill>
                <a:latin typeface="Aptos"/>
              </a:defRPr>
            </a:pPr>
            <a:r>
              <a:t>Human review, privacy controls, and audit-ready state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86600" y="4974336"/>
            <a:ext cx="406908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B5CCD5"/>
                </a:solidFill>
                <a:latin typeface="Aptos"/>
              </a:defRPr>
            </a:pPr>
            <a:r>
              <a:t>Supports evaluation before clinical claims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58368" y="5650992"/>
            <a:ext cx="10881360" cy="530352"/>
          </a:xfrm>
          <a:prstGeom prst="roundRect">
            <a:avLst/>
          </a:prstGeom>
          <a:solidFill>
            <a:srgbClr val="363140"/>
          </a:solidFill>
          <a:ln>
            <a:solidFill>
              <a:srgbClr val="6F52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932688" y="5797296"/>
            <a:ext cx="103327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50" b="1">
                <a:solidFill>
                  <a:srgbClr val="F6FAFC"/>
                </a:solidFill>
                <a:latin typeface="Aptos"/>
              </a:defRPr>
            </a:pPr>
            <a:r>
              <a:t>Contribution boundary: DermTrack is a research prototype for safer information support—not a validated diagnostic or treatment system.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420624"/>
            <a:ext cx="3657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23C2B0"/>
                </a:solidFill>
                <a:latin typeface="Aptos"/>
              </a:defRPr>
            </a:pPr>
            <a:r>
              <a:t>PROPOSED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13232"/>
            <a:ext cx="8961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F6FAFC"/>
                </a:solidFill>
                <a:latin typeface="Aptos Display"/>
              </a:defRPr>
            </a:pPr>
            <a:r>
              <a:t>A bounded, grounded, human-supervised support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35440" y="475488"/>
            <a:ext cx="2286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B5CCD5"/>
                </a:solidFill>
                <a:latin typeface="Aptos"/>
              </a:defRPr>
            </a:pPr>
            <a:r>
              <a:t>09  /  DERMTRACK AGENT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99032"/>
            <a:ext cx="658368" cy="54864"/>
          </a:xfrm>
          <a:prstGeom prst="rect">
            <a:avLst/>
          </a:prstGeom>
          <a:solidFill>
            <a:srgbClr val="FF7E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1545336"/>
            <a:ext cx="106984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B5CCD5"/>
                </a:solidFill>
                <a:latin typeface="Aptos"/>
              </a:defRPr>
            </a:pPr>
            <a:r>
              <a:t>DermTrack addresses the identified gap by combining multimodal intake, safety triage, trusted evidence retrieval, and persistent consultation context in one workflow.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148840"/>
            <a:ext cx="3401568" cy="1508760"/>
          </a:xfrm>
          <a:prstGeom prst="roundRect">
            <a:avLst/>
          </a:prstGeom>
          <a:solidFill>
            <a:srgbClr val="102A43"/>
          </a:solidFill>
          <a:ln w="12700">
            <a:solidFill>
              <a:srgbClr val="345B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58368" y="2148840"/>
            <a:ext cx="73152" cy="1508760"/>
          </a:xfrm>
          <a:prstGeom prst="rect">
            <a:avLst/>
          </a:prstGeom>
          <a:solidFill>
            <a:srgbClr val="23C2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2350008"/>
            <a:ext cx="2962656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23C2B0"/>
                </a:solidFill>
                <a:latin typeface="Aptos"/>
              </a:defRPr>
            </a:pPr>
            <a:r>
              <a:t>INPUT LAYER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715768"/>
            <a:ext cx="2962656" cy="7589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6FAFC"/>
                </a:solidFill>
                <a:latin typeface="Aptos"/>
              </a:defRPr>
            </a:pPr>
            <a:r>
              <a:t>Structured patient details</a:t>
            </a:r>
            <a:br/>
            <a:r>
              <a:t>Optional image upload</a:t>
            </a:r>
            <a:br/>
            <a:r>
              <a:t>Audio transcription through Deepgram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2148840"/>
            <a:ext cx="3401568" cy="1508760"/>
          </a:xfrm>
          <a:prstGeom prst="roundRect">
            <a:avLst/>
          </a:prstGeom>
          <a:solidFill>
            <a:srgbClr val="102A43"/>
          </a:solidFill>
          <a:ln w="12700">
            <a:solidFill>
              <a:srgbClr val="345B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89120" y="2148840"/>
            <a:ext cx="73152" cy="1508760"/>
          </a:xfrm>
          <a:prstGeom prst="rect">
            <a:avLst/>
          </a:prstGeom>
          <a:solidFill>
            <a:srgbClr val="FF7E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645152" y="2350008"/>
            <a:ext cx="2962656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FF7E67"/>
                </a:solidFill>
                <a:latin typeface="Aptos"/>
              </a:defRPr>
            </a:pPr>
            <a:r>
              <a:t>REASONING LAYER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45152" y="2715768"/>
            <a:ext cx="2962656" cy="7589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6FAFC"/>
                </a:solidFill>
                <a:latin typeface="Aptos"/>
              </a:defRPr>
            </a:pPr>
            <a:r>
              <a:t>Gemini image observations</a:t>
            </a:r>
            <a:br/>
            <a:r>
              <a:t>Safety red-flag triage</a:t>
            </a:r>
            <a:br/>
            <a:r>
              <a:t>LangGraph orchestration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19872" y="2148840"/>
            <a:ext cx="3401568" cy="1508760"/>
          </a:xfrm>
          <a:prstGeom prst="roundRect">
            <a:avLst/>
          </a:prstGeom>
          <a:solidFill>
            <a:srgbClr val="102A43"/>
          </a:solidFill>
          <a:ln w="12700">
            <a:solidFill>
              <a:srgbClr val="345B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119872" y="2148840"/>
            <a:ext cx="73152" cy="1508760"/>
          </a:xfrm>
          <a:prstGeom prst="rect">
            <a:avLst/>
          </a:prstGeom>
          <a:solidFill>
            <a:srgbClr val="23C2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375904" y="2350008"/>
            <a:ext cx="2962656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23C2B0"/>
                </a:solidFill>
                <a:latin typeface="Aptos"/>
              </a:defRPr>
            </a:pPr>
            <a:r>
              <a:t>EVIDENCE LAYER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75904" y="2715768"/>
            <a:ext cx="2962656" cy="7589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6FAFC"/>
                </a:solidFill>
                <a:latin typeface="Aptos"/>
              </a:defRPr>
            </a:pPr>
            <a:r>
              <a:t>Local RAG from trusted sources</a:t>
            </a:r>
            <a:br/>
            <a:r>
              <a:t>ChromaDB or Atlas vector search</a:t>
            </a:r>
            <a:br/>
            <a:r>
              <a:t>Conditional Tavily research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096512" y="2880360"/>
            <a:ext cx="256032" cy="0"/>
          </a:xfrm>
          <a:prstGeom prst="line">
            <a:avLst/>
          </a:prstGeom>
          <a:ln w="27940">
            <a:solidFill>
              <a:srgbClr val="FF7E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7827264" y="2880360"/>
            <a:ext cx="256032" cy="0"/>
          </a:xfrm>
          <a:prstGeom prst="line">
            <a:avLst/>
          </a:prstGeom>
          <a:ln w="27940">
            <a:solidFill>
              <a:srgbClr val="FF7E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658368" y="4114800"/>
            <a:ext cx="3401568" cy="1417320"/>
          </a:xfrm>
          <a:prstGeom prst="roundRect">
            <a:avLst/>
          </a:prstGeom>
          <a:solidFill>
            <a:srgbClr val="102A43"/>
          </a:solidFill>
          <a:ln w="12700">
            <a:solidFill>
              <a:srgbClr val="345B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58368" y="4114800"/>
            <a:ext cx="73152" cy="1417320"/>
          </a:xfrm>
          <a:prstGeom prst="rect">
            <a:avLst/>
          </a:prstGeom>
          <a:solidFill>
            <a:srgbClr val="FF7E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14400" y="4315968"/>
            <a:ext cx="2962656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FF7E67"/>
                </a:solidFill>
                <a:latin typeface="Aptos"/>
              </a:defRPr>
            </a:pPr>
            <a:r>
              <a:t>SAFETY BOUNDARY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4681728"/>
            <a:ext cx="2962656" cy="6675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6FAFC"/>
                </a:solidFill>
                <a:latin typeface="Aptos"/>
              </a:defRPr>
            </a:pPr>
            <a:r>
              <a:t>Non-diagnostic language</a:t>
            </a:r>
            <a:br/>
            <a:r>
              <a:t>No invented prescriptions</a:t>
            </a:r>
            <a:br/>
            <a:r>
              <a:t>Escalation when warning signs appear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89120" y="4114800"/>
            <a:ext cx="3401568" cy="1417320"/>
          </a:xfrm>
          <a:prstGeom prst="roundRect">
            <a:avLst/>
          </a:prstGeom>
          <a:solidFill>
            <a:srgbClr val="102A43"/>
          </a:solidFill>
          <a:ln w="12700">
            <a:solidFill>
              <a:srgbClr val="345B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389120" y="4114800"/>
            <a:ext cx="73152" cy="1417320"/>
          </a:xfrm>
          <a:prstGeom prst="rect">
            <a:avLst/>
          </a:prstGeom>
          <a:solidFill>
            <a:srgbClr val="23C2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645152" y="4315968"/>
            <a:ext cx="2962656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23C2B0"/>
                </a:solidFill>
                <a:latin typeface="Aptos"/>
              </a:defRPr>
            </a:pPr>
            <a:r>
              <a:t>RESPONSE LAYER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45152" y="4681728"/>
            <a:ext cx="2962656" cy="6675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6FAFC"/>
                </a:solidFill>
                <a:latin typeface="Aptos"/>
              </a:defRPr>
            </a:pPr>
            <a:r>
              <a:t>Evidence-linked educational response</a:t>
            </a:r>
            <a:br/>
            <a:r>
              <a:t>Uncertainty-aware wording</a:t>
            </a:r>
            <a:br/>
            <a:r>
              <a:t>Human professional remains responsible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119872" y="4114800"/>
            <a:ext cx="3401568" cy="1417320"/>
          </a:xfrm>
          <a:prstGeom prst="roundRect">
            <a:avLst/>
          </a:prstGeom>
          <a:solidFill>
            <a:srgbClr val="102A43"/>
          </a:solidFill>
          <a:ln w="12700">
            <a:solidFill>
              <a:srgbClr val="345B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8119872" y="4114800"/>
            <a:ext cx="73152" cy="1417320"/>
          </a:xfrm>
          <a:prstGeom prst="rect">
            <a:avLst/>
          </a:prstGeom>
          <a:solidFill>
            <a:srgbClr val="FF7E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375904" y="4315968"/>
            <a:ext cx="2962656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FF7E67"/>
                </a:solidFill>
                <a:latin typeface="Aptos"/>
              </a:defRPr>
            </a:pPr>
            <a:r>
              <a:t>PERSISTENCE LAYER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75904" y="4681728"/>
            <a:ext cx="2962656" cy="6675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6FAFC"/>
                </a:solidFill>
                <a:latin typeface="Aptos"/>
              </a:defRPr>
            </a:pPr>
            <a:r>
              <a:t>MongoDB consultation records</a:t>
            </a:r>
            <a:br/>
            <a:r>
              <a:t>GridFS image storage</a:t>
            </a:r>
            <a:br/>
            <a:r>
              <a:t>Longitudinal patient context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" y="5852160"/>
            <a:ext cx="108356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>
                <a:solidFill>
                  <a:srgbClr val="B5CCD5"/>
                </a:solidFill>
                <a:latin typeface="Aptos"/>
              </a:defRPr>
            </a:pPr>
            <a:r>
              <a:t>The proposed solution is an integrated research prototype, not a replacement for clinical diagnosis or treatment.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420624"/>
            <a:ext cx="3657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23C2B0"/>
                </a:solidFill>
                <a:latin typeface="Aptos"/>
              </a:defRPr>
            </a:pPr>
            <a:r>
              <a:t>PROPOSED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13232"/>
            <a:ext cx="8961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F6FAFC"/>
                </a:solidFill>
                <a:latin typeface="Aptos Display"/>
              </a:defRPr>
            </a:pPr>
            <a:r>
              <a:t>End-to-end solution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35440" y="475488"/>
            <a:ext cx="2286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B5CCD5"/>
                </a:solidFill>
                <a:latin typeface="Aptos"/>
              </a:defRPr>
            </a:pPr>
            <a:r>
              <a:t>010  /  DERMTRACK AGENT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99032"/>
            <a:ext cx="658368" cy="54864"/>
          </a:xfrm>
          <a:prstGeom prst="rect">
            <a:avLst/>
          </a:prstGeom>
          <a:solidFill>
            <a:srgbClr val="FF7E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1545336"/>
            <a:ext cx="106984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B5CCD5"/>
                </a:solidFill>
                <a:latin typeface="Aptos"/>
              </a:defRPr>
            </a:pPr>
            <a:r>
              <a:t>Each stage is bounded, testable, and designed to preserve safety and evidence provenance.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240280"/>
            <a:ext cx="1572768" cy="1737360"/>
          </a:xfrm>
          <a:prstGeom prst="roundRect">
            <a:avLst/>
          </a:prstGeom>
          <a:solidFill>
            <a:srgbClr val="102A43"/>
          </a:solidFill>
          <a:ln w="12700">
            <a:solidFill>
              <a:srgbClr val="345B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207007" y="2441448"/>
            <a:ext cx="475488" cy="475488"/>
          </a:xfrm>
          <a:prstGeom prst="ellipse">
            <a:avLst/>
          </a:prstGeom>
          <a:solidFill>
            <a:srgbClr val="23C2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207007" y="2560320"/>
            <a:ext cx="475488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0A192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" y="3090672"/>
            <a:ext cx="129844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F6FAFC"/>
                </a:solidFill>
                <a:latin typeface="Aptos"/>
              </a:defRPr>
            </a:pPr>
            <a:r>
              <a:t>Collect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8" y="3438144"/>
            <a:ext cx="1298448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50" b="0">
                <a:solidFill>
                  <a:srgbClr val="B5CCD5"/>
                </a:solidFill>
                <a:latin typeface="Aptos"/>
              </a:defRPr>
            </a:pPr>
            <a:r>
              <a:t>Patient intake</a:t>
            </a:r>
            <a:br/>
            <a:r>
              <a:t>Text / audio / image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231136" y="3108960"/>
            <a:ext cx="237744" cy="0"/>
          </a:xfrm>
          <a:prstGeom prst="line">
            <a:avLst/>
          </a:prstGeom>
          <a:ln w="20320">
            <a:solidFill>
              <a:srgbClr val="23C2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2523744" y="2240280"/>
            <a:ext cx="1572768" cy="1737360"/>
          </a:xfrm>
          <a:prstGeom prst="roundRect">
            <a:avLst/>
          </a:prstGeom>
          <a:solidFill>
            <a:srgbClr val="102A43"/>
          </a:solidFill>
          <a:ln w="12700">
            <a:solidFill>
              <a:srgbClr val="345B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3072384" y="2441448"/>
            <a:ext cx="475488" cy="475488"/>
          </a:xfrm>
          <a:prstGeom prst="ellipse">
            <a:avLst/>
          </a:prstGeom>
          <a:solidFill>
            <a:srgbClr val="FF7E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072384" y="2560320"/>
            <a:ext cx="475488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0A192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60903" y="3090672"/>
            <a:ext cx="129844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F6FAFC"/>
                </a:solidFill>
                <a:latin typeface="Aptos"/>
              </a:defRPr>
            </a:pPr>
            <a:r>
              <a:t>Normalize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60903" y="3438144"/>
            <a:ext cx="1298448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50" b="0">
                <a:solidFill>
                  <a:srgbClr val="B5CCD5"/>
                </a:solidFill>
                <a:latin typeface="Aptos"/>
              </a:defRPr>
            </a:pPr>
            <a:r>
              <a:t>Validate fields</a:t>
            </a:r>
            <a:br/>
            <a:r>
              <a:t>Transcribe audio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096511" y="3108960"/>
            <a:ext cx="237745" cy="0"/>
          </a:xfrm>
          <a:prstGeom prst="line">
            <a:avLst/>
          </a:prstGeom>
          <a:ln w="20320">
            <a:solidFill>
              <a:srgbClr val="23C2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4389120" y="2240280"/>
            <a:ext cx="1572768" cy="1737360"/>
          </a:xfrm>
          <a:prstGeom prst="roundRect">
            <a:avLst/>
          </a:prstGeom>
          <a:solidFill>
            <a:srgbClr val="102A43"/>
          </a:solidFill>
          <a:ln w="12700">
            <a:solidFill>
              <a:srgbClr val="345B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4937759" y="2441448"/>
            <a:ext cx="475488" cy="475488"/>
          </a:xfrm>
          <a:prstGeom prst="ellipse">
            <a:avLst/>
          </a:prstGeom>
          <a:solidFill>
            <a:srgbClr val="23C2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937759" y="2560320"/>
            <a:ext cx="475488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0A192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6280" y="3090672"/>
            <a:ext cx="129844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F6FAFC"/>
                </a:solidFill>
                <a:latin typeface="Aptos"/>
              </a:defRPr>
            </a:pPr>
            <a:r>
              <a:t>Observe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26280" y="3438144"/>
            <a:ext cx="1298448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50" b="0">
                <a:solidFill>
                  <a:srgbClr val="B5CCD5"/>
                </a:solidFill>
                <a:latin typeface="Aptos"/>
              </a:defRPr>
            </a:pPr>
            <a:r>
              <a:t>Analyze image</a:t>
            </a:r>
            <a:br/>
            <a:r>
              <a:t>Describe visible features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961888" y="3108960"/>
            <a:ext cx="237743" cy="0"/>
          </a:xfrm>
          <a:prstGeom prst="line">
            <a:avLst/>
          </a:prstGeom>
          <a:ln w="20320">
            <a:solidFill>
              <a:srgbClr val="23C2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6254496" y="2240280"/>
            <a:ext cx="1572768" cy="1737360"/>
          </a:xfrm>
          <a:prstGeom prst="roundRect">
            <a:avLst/>
          </a:prstGeom>
          <a:solidFill>
            <a:srgbClr val="102A43"/>
          </a:solidFill>
          <a:ln w="12700">
            <a:solidFill>
              <a:srgbClr val="345B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6803136" y="2441448"/>
            <a:ext cx="475488" cy="475488"/>
          </a:xfrm>
          <a:prstGeom prst="ellipse">
            <a:avLst/>
          </a:prstGeom>
          <a:solidFill>
            <a:srgbClr val="FF7E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803136" y="2560320"/>
            <a:ext cx="475488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0A192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91656" y="3090672"/>
            <a:ext cx="129844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F6FAFC"/>
                </a:solidFill>
                <a:latin typeface="Aptos"/>
              </a:defRPr>
            </a:pPr>
            <a:r>
              <a:t>Triage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91656" y="3438144"/>
            <a:ext cx="1298448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50" b="0">
                <a:solidFill>
                  <a:srgbClr val="B5CCD5"/>
                </a:solidFill>
                <a:latin typeface="Aptos"/>
              </a:defRPr>
            </a:pPr>
            <a:r>
              <a:t>Check red flags</a:t>
            </a:r>
            <a:br/>
            <a:r>
              <a:t>Escalate urgent cases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7827264" y="3108960"/>
            <a:ext cx="237744" cy="0"/>
          </a:xfrm>
          <a:prstGeom prst="line">
            <a:avLst/>
          </a:prstGeom>
          <a:ln w="20320">
            <a:solidFill>
              <a:srgbClr val="23C2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8119872" y="2240280"/>
            <a:ext cx="1572768" cy="1737360"/>
          </a:xfrm>
          <a:prstGeom prst="roundRect">
            <a:avLst/>
          </a:prstGeom>
          <a:solidFill>
            <a:srgbClr val="102A43"/>
          </a:solidFill>
          <a:ln w="12700">
            <a:solidFill>
              <a:srgbClr val="345B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8668512" y="2441448"/>
            <a:ext cx="475488" cy="475488"/>
          </a:xfrm>
          <a:prstGeom prst="ellipse">
            <a:avLst/>
          </a:prstGeom>
          <a:solidFill>
            <a:srgbClr val="23C2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668512" y="2560320"/>
            <a:ext cx="475488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0A192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57032" y="3090672"/>
            <a:ext cx="129844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F6FAFC"/>
                </a:solidFill>
                <a:latin typeface="Aptos"/>
              </a:defRPr>
            </a:pPr>
            <a:r>
              <a:t>Ground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57032" y="3438144"/>
            <a:ext cx="1298448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50" b="0">
                <a:solidFill>
                  <a:srgbClr val="B5CCD5"/>
                </a:solidFill>
                <a:latin typeface="Aptos"/>
              </a:defRPr>
            </a:pPr>
            <a:r>
              <a:t>Retrieve trusted sources</a:t>
            </a:r>
            <a:br/>
            <a:r>
              <a:t>Research only when needed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9692640" y="3108960"/>
            <a:ext cx="237744" cy="0"/>
          </a:xfrm>
          <a:prstGeom prst="line">
            <a:avLst/>
          </a:prstGeom>
          <a:ln w="20320">
            <a:solidFill>
              <a:srgbClr val="23C2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9985248" y="2240280"/>
            <a:ext cx="1572768" cy="1737360"/>
          </a:xfrm>
          <a:prstGeom prst="roundRect">
            <a:avLst/>
          </a:prstGeom>
          <a:solidFill>
            <a:srgbClr val="102A43"/>
          </a:solidFill>
          <a:ln w="12700">
            <a:solidFill>
              <a:srgbClr val="345B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10533888" y="2441448"/>
            <a:ext cx="475488" cy="475488"/>
          </a:xfrm>
          <a:prstGeom prst="ellipse">
            <a:avLst/>
          </a:prstGeom>
          <a:solidFill>
            <a:srgbClr val="FF7E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10533888" y="2560320"/>
            <a:ext cx="475488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0A192F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122408" y="3090672"/>
            <a:ext cx="129844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F6FAFC"/>
                </a:solidFill>
                <a:latin typeface="Aptos"/>
              </a:defRPr>
            </a:pPr>
            <a:r>
              <a:t>Respond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122408" y="3438144"/>
            <a:ext cx="1298448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50" b="0">
                <a:solidFill>
                  <a:srgbClr val="B5CCD5"/>
                </a:solidFill>
                <a:latin typeface="Aptos"/>
              </a:defRPr>
            </a:pPr>
            <a:r>
              <a:t>Generate bounded answer</a:t>
            </a:r>
            <a:br/>
            <a:r>
              <a:t>Persist consultation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58368" y="4434840"/>
            <a:ext cx="10881360" cy="1005840"/>
          </a:xfrm>
          <a:prstGeom prst="roundRect">
            <a:avLst/>
          </a:prstGeom>
          <a:solidFill>
            <a:srgbClr val="144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932688" y="4663440"/>
            <a:ext cx="1920240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23C2B0"/>
                </a:solidFill>
                <a:latin typeface="Aptos"/>
              </a:defRPr>
            </a:pPr>
            <a:r>
              <a:t>IMPLEMENTATION STACK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788920" y="4636008"/>
            <a:ext cx="81381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6FAFC"/>
                </a:solidFill>
                <a:latin typeface="Aptos"/>
              </a:defRPr>
            </a:pPr>
            <a:r>
              <a:t>FastAPI  ·  LangGraph  ·  Gemini Vision  ·  Deepgram  ·  ChromaDB / Atlas  ·  Tavily  ·  MongoDB + GridFS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58368" y="5852160"/>
            <a:ext cx="108356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>
                <a:solidFill>
                  <a:srgbClr val="B5CCD5"/>
                </a:solidFill>
                <a:latin typeface="Aptos"/>
              </a:defRPr>
            </a:pPr>
            <a:r>
              <a:t>Research contribution: a single workflow connects multimodal context, safety checks, evidence retrieval, and longitudinal persistence.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420624"/>
            <a:ext cx="4572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23C2B0"/>
                </a:solidFill>
                <a:latin typeface="Aptos"/>
              </a:defRPr>
            </a:pPr>
            <a:r>
              <a:t>PRELIMINARY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13232"/>
            <a:ext cx="8961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F6FAFC"/>
                </a:solidFill>
                <a:latin typeface="Aptos Display"/>
              </a:defRPr>
            </a:pPr>
            <a:r>
              <a:t>System architecture diagram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35440" y="475488"/>
            <a:ext cx="2286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B5CCD5"/>
                </a:solidFill>
                <a:latin typeface="Aptos"/>
              </a:defRPr>
            </a:pPr>
            <a:r>
              <a:t>011  /  DERMTRACK AGENT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99032"/>
            <a:ext cx="658368" cy="54864"/>
          </a:xfrm>
          <a:prstGeom prst="rect">
            <a:avLst/>
          </a:prstGeom>
          <a:solidFill>
            <a:srgbClr val="FF7E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E02E7F5-5774-5ED4-0D9E-3F7DA093A2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4027" y="1489183"/>
            <a:ext cx="7583946" cy="505596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420624"/>
            <a:ext cx="4572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23C2B0"/>
                </a:solidFill>
                <a:latin typeface="Aptos"/>
              </a:defRPr>
            </a:pPr>
            <a:r>
              <a:t>PRELIMINARY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13232"/>
            <a:ext cx="8961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F6FAFC"/>
                </a:solidFill>
                <a:latin typeface="Aptos Display"/>
              </a:defRPr>
            </a:pPr>
            <a:r>
              <a:t>Role of the database and data-management layer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35440" y="475488"/>
            <a:ext cx="2286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B5CCD5"/>
                </a:solidFill>
                <a:latin typeface="Aptos"/>
              </a:defRPr>
            </a:pPr>
            <a:r>
              <a:t>012  /  DERMTRACK AGENT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99032"/>
            <a:ext cx="658368" cy="54864"/>
          </a:xfrm>
          <a:prstGeom prst="rect">
            <a:avLst/>
          </a:prstGeom>
          <a:solidFill>
            <a:srgbClr val="FF7E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1545336"/>
            <a:ext cx="106984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B5CCD5"/>
                </a:solidFill>
                <a:latin typeface="Aptos"/>
              </a:defRPr>
            </a:pPr>
            <a:r>
              <a:t>DermTrack separates operational patient data from searchable medical knowledge so each data type can be stored and accessed appropriately.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103120"/>
            <a:ext cx="3401568" cy="2194560"/>
          </a:xfrm>
          <a:prstGeom prst="roundRect">
            <a:avLst/>
          </a:prstGeom>
          <a:solidFill>
            <a:srgbClr val="102A43"/>
          </a:solidFill>
          <a:ln w="12700">
            <a:solidFill>
              <a:srgbClr val="345B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58368" y="2103120"/>
            <a:ext cx="82296" cy="2194560"/>
          </a:xfrm>
          <a:prstGeom prst="rect">
            <a:avLst/>
          </a:prstGeom>
          <a:solidFill>
            <a:srgbClr val="23C2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32688" y="2331720"/>
            <a:ext cx="289864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23C2B0"/>
                </a:solidFill>
                <a:latin typeface="Aptos"/>
              </a:defRPr>
            </a:pPr>
            <a:r>
              <a:t>MONGODB ATLAS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697479"/>
            <a:ext cx="289864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EEDF0"/>
                </a:solidFill>
                <a:latin typeface="Aptos"/>
              </a:defRPr>
            </a:pPr>
            <a:r>
              <a:t>Operational application database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3090672"/>
            <a:ext cx="2898648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F6FAFC"/>
                </a:solidFill>
                <a:latin typeface="Aptos"/>
              </a:defRPr>
            </a:pPr>
            <a:r>
              <a:t>Stores structured patient intake, consultation records, transcripts, image observations, triage outcomes, retrieved-source metadata, generated responses, timestamps, and history.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2103120"/>
            <a:ext cx="3401568" cy="2194560"/>
          </a:xfrm>
          <a:prstGeom prst="roundRect">
            <a:avLst/>
          </a:prstGeom>
          <a:solidFill>
            <a:srgbClr val="102A43"/>
          </a:solidFill>
          <a:ln w="12700">
            <a:solidFill>
              <a:srgbClr val="345B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389120" y="2103120"/>
            <a:ext cx="82296" cy="2194560"/>
          </a:xfrm>
          <a:prstGeom prst="rect">
            <a:avLst/>
          </a:prstGeom>
          <a:solidFill>
            <a:srgbClr val="FF7E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663440" y="2331720"/>
            <a:ext cx="289864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FF7E67"/>
                </a:solidFill>
                <a:latin typeface="Aptos"/>
              </a:defRPr>
            </a:pPr>
            <a:r>
              <a:t>GRIDFS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2697479"/>
            <a:ext cx="289864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EEDF0"/>
                </a:solidFill>
                <a:latin typeface="Aptos"/>
              </a:defRPr>
            </a:pPr>
            <a:r>
              <a:t>Large-file image storage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3090672"/>
            <a:ext cx="2898648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F6FAFC"/>
                </a:solidFill>
                <a:latin typeface="Aptos"/>
              </a:defRPr>
            </a:pPr>
            <a:r>
              <a:t>Stores uploaded JPEG, PNG, and WEBP consultation images separately from the consultation document. The record keeps the GridFS file ID and content type.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19872" y="2103120"/>
            <a:ext cx="3401568" cy="2194560"/>
          </a:xfrm>
          <a:prstGeom prst="roundRect">
            <a:avLst/>
          </a:prstGeom>
          <a:solidFill>
            <a:srgbClr val="102A43"/>
          </a:solidFill>
          <a:ln w="12700">
            <a:solidFill>
              <a:srgbClr val="345B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119872" y="2103120"/>
            <a:ext cx="82296" cy="2194560"/>
          </a:xfrm>
          <a:prstGeom prst="rect">
            <a:avLst/>
          </a:prstGeom>
          <a:solidFill>
            <a:srgbClr val="23C2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394192" y="2331720"/>
            <a:ext cx="289864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23C2B0"/>
                </a:solidFill>
                <a:latin typeface="Aptos"/>
              </a:defRPr>
            </a:pPr>
            <a:r>
              <a:t>CHROMADB OR ATLAS VECTOR SEARCH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94192" y="2697479"/>
            <a:ext cx="289864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EEDF0"/>
                </a:solidFill>
                <a:latin typeface="Aptos"/>
              </a:defRPr>
            </a:pPr>
            <a:r>
              <a:t>Medical knowledge retrieval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94192" y="3090672"/>
            <a:ext cx="2898648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F6FAFC"/>
                </a:solidFill>
                <a:latin typeface="Aptos"/>
              </a:defRPr>
            </a:pPr>
            <a:r>
              <a:t>Stores trusted-document chunks, embeddings, source URLs, trust tiers, page numbers, and document metadata. It is not used as the patient-record store.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4681728"/>
            <a:ext cx="10881360" cy="841248"/>
          </a:xfrm>
          <a:prstGeom prst="roundRect">
            <a:avLst/>
          </a:prstGeom>
          <a:solidFill>
            <a:srgbClr val="144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32688" y="4928616"/>
            <a:ext cx="14173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F7E67"/>
                </a:solidFill>
                <a:latin typeface="Aptos"/>
              </a:defRPr>
            </a:pPr>
            <a:r>
              <a:t>DATA LIFECYCLE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14600" y="4892040"/>
            <a:ext cx="8412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6FAFC"/>
                </a:solidFill>
                <a:latin typeface="Aptos"/>
              </a:defRPr>
            </a:pPr>
            <a:r>
              <a:t>Collect → Validate → Process → Retrieve evidence → Generate response → Persist consultation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5852160"/>
            <a:ext cx="108356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>
                <a:solidFill>
                  <a:srgbClr val="B5CCD5"/>
                </a:solidFill>
                <a:latin typeface="Aptos"/>
              </a:defRPr>
            </a:pPr>
            <a:r>
              <a:t>Design principle: patient data remains in the application database, while medical knowledge is indexed separately for retrieval.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1811</Words>
  <Application>Microsoft Office PowerPoint</Application>
  <PresentationFormat>Widescreen</PresentationFormat>
  <Paragraphs>245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DermTrack Agent — Preliminary Architecture</dc:title>
  <dc:subject>Architecture placeholder and data-management role</dc:subject>
  <dc:creator>Annam Akash and B. Hema</dc:creator>
  <cp:keywords/>
  <dc:description>generated using python-pptx</dc:description>
  <cp:lastModifiedBy>Akash Annam</cp:lastModifiedBy>
  <cp:revision>2</cp:revision>
  <dcterms:created xsi:type="dcterms:W3CDTF">2013-01-27T09:14:16Z</dcterms:created>
  <dcterms:modified xsi:type="dcterms:W3CDTF">2026-08-27T15:16:19Z</dcterms:modified>
  <cp:category/>
</cp:coreProperties>
</file>