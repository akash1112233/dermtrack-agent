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9"/>
    <p:sldId id="270" r:id="rId20"/>
    <p:sldId id="266" r:id="rId12"/>
    <p:sldId id="267" r:id="rId13"/>
    <p:sldId id="271" r:id="rId21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The gap DermTrack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623560" cy="18470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People struggle to interpret skin symptoms and decide what to do next. Online information is often fragmented, hard to verify, and unsafe without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4" y="22128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Unstructured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Symptoms, history, and images arrive in different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871215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7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9981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Reliable medical information is scattered across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2958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5112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Safety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58183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 confident but unsupported answer can delay appropriate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41879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6966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Limited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Previous consultations and observations are hard to organize.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10881360" cy="1234440"/>
          </a:xfrm>
          <a:prstGeom prst="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DERMTRACK'S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60"/>
            <a:ext cx="8092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Structured intake + optional image observations + safety triage + trusted retrieval + consultation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EEDF0"/>
                </a:solidFill>
                <a:latin typeface="Aptos"/>
              </a:defRPr>
            </a:pPr>
            <a:r>
              <a:t>Supports informed next steps; it does not replace a dermatologist or issue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Who needs it—and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Patients seeking understandable guidance</a:t>
            </a:r>
            <a:br/>
            <a:br/>
            <a:r>
              <a:t>Clinicians reviewing structured consultation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25696" y="1719072"/>
            <a:ext cx="82296" cy="1865376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AI-assisted dermatology support</a:t>
            </a:r>
            <a:br/>
            <a:br/>
            <a:r>
              <a:t>Text + optional skin images + medical knowledge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3024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Make first-line information more organized, explainable, privacy-conscious, and safety-aware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230368" cy="1417320"/>
          </a:xfrm>
          <a:prstGeom prst="roundRect">
            <a:avLst/>
          </a:prstGeom>
          <a:solidFill>
            <a:srgbClr val="144350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PRACTICAL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A realistic workflow for collecting better consultation context, grounding answers in trusted sources, flagging warning signs, and preserving a usable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77639"/>
            <a:ext cx="5349240" cy="1417320"/>
          </a:xfrm>
          <a:prstGeom prst="roundRect">
            <a:avLst/>
          </a:prstGeom>
          <a:solidFill>
            <a:srgbClr val="363140"/>
          </a:solidFill>
          <a:ln w="12700"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590288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Improve access to understandable, evidence-linked support; encourage earlier professional attention when red flags appear; and reduce unsupported, overconfident health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8978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impact is a design objective, not a claim of clinical effectiveness; validation with clinicians and real-world users remains future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How the evidence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5CCD5"/>
                </a:solidFill>
                <a:latin typeface="Aptos"/>
              </a:defRPr>
            </a:pPr>
            <a:r>
              <a:t>The review connects DermTrack's implementation choices to research on dermatology AI, evidence grounding, fairness, and safe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  DOMAIN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Dermatology image AI and multimodal models</a:t>
            </a:r>
            <a:br/>
            <a:br/>
            <a:r>
              <a:t>Question: How well do image-based systems generalize?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02  SYSTEM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RAG and medical language models</a:t>
            </a:r>
            <a:br/>
            <a:br/>
            <a:r>
              <a:t>Question: How can responses be grounded in external knowledge?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  SAFETY + 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Bias, explainability, and governance</a:t>
            </a:r>
            <a:br/>
            <a:br/>
            <a:r>
              <a:t>Question: What must the system avoid claiming?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SELECTED SOURCE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07408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Liu 2020  ·  Daneshjou 2022  ·  Yan 2025  ·  Zhou 2024</a:t>
            </a:r>
            <a:br/>
            <a:r>
              <a:t>Lewis 2020  ·  Xiong 2024  ·  Zakka 2024  ·  WHO 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069080"/>
            <a:ext cx="2606040" cy="107899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429768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LITERATURE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46177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Paper → Method → Dataset → Findings → Performance →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88736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Peer-reviewed research is separated from surveys and organizational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Dermatology AI: methods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05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papers establish the opportunity while highlighting generalization, skin-tone fairness, and diagnostic-risk concerns.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Deep-learning differential diagnosis from clinical skin images.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Clinical dermatology image datasets; internal and external evaluation.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feasibility of automated differential diagnosis across multiple skin conditions.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Strong reported image-classification results; clinician comparison included.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shift, image quality, subgroup coverage, and diagnosis-risk concerns.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Daneshjou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Science Advances (2022)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Evaluates dermatology AI across skin-tone groups using a curated clinical set.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DDI: Diverse Dermatology Images dataset; subgroup evaluation.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disparities were observed across skin-tone groups.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that aggregate performance can hide subgroup underperformance.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Limited dataset size and representativeness; benchmark fairness ≠ clinical fairness.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Yan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(2025)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Multimodal vision foundation model for clinical dermatology.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Multi-source dermatology image–text evaluations; model and clinician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promise of foundation-model transfer across dermatology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benchmark and clinician-oriented evaluations; exact metrics require full-text extraction.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Foundation-model opacity, dataset bias, hallucination, and prospective validation needs.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Zhou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Communications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Pre-trained multimodal LLM, SkinGPT-4, for dermatology image–text reasoning.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Dermatology image–text data and diagnostic evaluation tasks.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multimodal generation for dermatological descriptions and predictions.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diagnostic and generation evaluations; not evidence of autonomous clinical safety.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Possible hallucinations, limited generalization, and diagnosis may overstate capability.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RAG, clinical AI,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sources support DermTrack's grounded, privacy-conscious, non-diagnostic and human-supervised design.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Lewis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NeurIPS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Retrieval-Augmented Generation combines a retriever with a generator.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Knowledge-intensive NLP benchmarks including open-domain QA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External evidence can complement parametric model knowledge.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RAG improved results on several knowledge-intensive tasks in the original study.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 quality, stale sources, irrelevant context, and unsupported synthesis.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Xiong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Findings of ACL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RAG with domain retrievers, knowledge bases, and context construction.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MedQA, MedMCQA, PubMedQA, and other medical QA benchmarks.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retrieval often improves QA, but configuration and corpus choice matter.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Benchmark accuracy improves in many RAG settings; not a clinical-safety metric.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Multiple-choice benchmarks do not measure triage, calibration, or patient harm.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Zakka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NEJM AI (2024)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Almanac: LLM connected to retrieved medical references and clinical tools.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QA benchmarks plus expert assessment.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Grounding can improve factual support and clinical answer quality.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Reported gains over standalone generation in evaluated medical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Corpus coverage, retrieval errors, limited expert evaluation, and no deployment validation.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WHO (2021)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Governance report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Ethical and governance framework for AI in health.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experimental dataset; evidence synthesis and expert consultation.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Calls for human control, transparency, privacy, equity, and accountability.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numerical performance; provides safety and governance requirements.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Normative guidance must be translated into concrete product controls and audits.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What existing approaches still leave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07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literature shows strong progress, but many systems solve only one part of the dermatology-support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Image-only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systems classify images but do not combine symptoms, history, medications, and patient context in one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25856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Unsafe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Language models can produce fluent but unsupported medical content, even when the answer sounds confident.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48472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Benchmark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High accuracy on static datasets does not prove safe triage, calibration, usability, or clinical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Representation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Skin-tone imbalance, label quality, and dataset shift can reduce reliability for underrepresented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17720" y="399592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Retrieval can fail through irrelevant, incomplete, stale, or weakly sourced medical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8472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Continuity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prototypes do not preserve structured, longitudinal consultation history for follow-up context.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15584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6FAFC"/>
                </a:solidFill>
                <a:latin typeface="Aptos"/>
              </a:defRPr>
            </a:pPr>
            <a:r>
              <a:t>Research gap: there is a need for a bounded end-to-end support workflow—not just a better image classifier or a larger language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DermTrack's response to the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08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gap by integrating complementary components while keeping the system non-diagnostic and human-supervised.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2039112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Patient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3969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Structured intake + symptom/history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3969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Moves beyond image-only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" y="2606040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72491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Grounded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06624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Local trusted RAG + source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706624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Reduces unsupported medical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72968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" y="3172968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91839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Current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273551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Conditional Tavily research with de-identified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73551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Adds bounded, optional web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9896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0664" y="3739896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85876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Safety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840480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Red-flag triage + explicit non-diagnostic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840480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Prioritizes escalation over false reassurance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06824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0664" y="4306824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425696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407408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MongoDB consultation records + GridFS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0740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Preserves organized longitudinal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73752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664" y="4873752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99262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Responsible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97433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Human review, privacy controls, and audit-ready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97433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Supports evaluation before clinical claims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50992"/>
            <a:ext cx="10881360" cy="53035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579729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Contribution boundary: DermTrack is a research prototype for safer information support—not a validated diagnostic or treatment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A bounded, grounded, human-supervised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09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identified gap by combining multimodal intake, safety triage, trusted evidence retrieval, and persistent consultation context in one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INPUT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Structured patient details</a:t>
            </a:r>
            <a:br/>
            <a:r>
              <a:t>Optional image upload</a:t>
            </a:r>
            <a:br/>
            <a:r>
              <a:t>Audio transcription through Deepgram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REASONING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Gemini image observations</a:t>
            </a:r>
            <a:br/>
            <a:r>
              <a:t>Safety red-flag triage</a:t>
            </a:r>
            <a:br/>
            <a:r>
              <a:t>LangGraph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EVIDENCE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Local RAG from trusted sources</a:t>
            </a:r>
            <a:br/>
            <a:r>
              <a:t>ChromaDB or Atlas vector search</a:t>
            </a:r>
            <a:br/>
            <a:r>
              <a:t>Conditional Tavily research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96512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27264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SAFETY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Non-diagnostic language</a:t>
            </a:r>
            <a:br/>
            <a:r>
              <a:t>No invented prescriptions</a:t>
            </a:r>
            <a:br/>
            <a:r>
              <a:t>Escalation when warning signs appear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73152" cy="141732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RESPONSE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Evidence-linked educational response</a:t>
            </a:r>
            <a:br/>
            <a:r>
              <a:t>Uncertainty-aware wording</a:t>
            </a:r>
            <a:br/>
            <a:r>
              <a:t>Human professional remains responsible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19872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75904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PERSISTENCE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MongoDB consultation records</a:t>
            </a:r>
            <a:br/>
            <a:r>
              <a:t>GridFS image storage</a:t>
            </a:r>
            <a:br/>
            <a:r>
              <a:t>Longitudinal patient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The proposed solution is an integrated research prototype, not a replacement for clinical diagnosis or treatment.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End-to-end solution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10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Each stage is bounded, testable, and designed to preserve safety and evidence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7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Patient intake</a:t>
            </a:r>
            <a:br/>
            <a:r>
              <a:t>Text / audio / 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1136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23744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2384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Validate fields</a:t>
            </a:r>
            <a:br/>
            <a:r>
              <a:t>Transcribe audio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96511" y="3108960"/>
            <a:ext cx="237745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Analyze image</a:t>
            </a:r>
            <a:br/>
            <a:r>
              <a:t>Describe visible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3108960"/>
            <a:ext cx="237743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4496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03136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03136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Check red flags</a:t>
            </a:r>
            <a:br/>
            <a:r>
              <a:t>Escalate urgent cases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27264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19872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68512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68512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Retrieve trusted sources</a:t>
            </a:r>
            <a:br/>
            <a:r>
              <a:t>Research only when needed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92640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8524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33888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33888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240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Generate bounded answer</a:t>
            </a:r>
            <a:br/>
            <a:r>
              <a:t>Persist consultation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434840"/>
            <a:ext cx="10881360" cy="1005840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4663440"/>
            <a:ext cx="1920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IMPLEMENTATION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4636008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FastAPI  ·  LangGraph  ·  Gemini Vision  ·  Deepgram  ·  ChromaDB / Atlas  ·  Tavily  ·  MongoDB + GridFS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Research contribution: a single workflow connects multimodal context, safety checks, evidence retrieval, and longitudinal persistence.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System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02E7F5-5774-5ED4-0D9E-3F7DA093A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7" y="1489183"/>
            <a:ext cx="7583946" cy="50559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PRELIMINARY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Role of the database and data-management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separates operational patient data from searchable medical knowledge so each data type can be stored and accessed appropriately.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MONGODB 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Operational application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structured patient intake, consultation records, transcripts, image observations, triage outcomes, retrieved-source metadata, generated responses, timestamps, and history.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82296" cy="2194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7E67"/>
                </a:solidFill>
                <a:latin typeface="Aptos"/>
              </a:defRPr>
            </a:pPr>
            <a:r>
              <a:t>GRIDFS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Large-file image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uploaded JPEG, PNG, and WEBP consultation images separately from the consultation document. The record keeps the GridFS file ID and content 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103120"/>
            <a:ext cx="3401568" cy="21945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19872" y="2103120"/>
            <a:ext cx="82296" cy="21945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3C2B0"/>
                </a:solidFill>
                <a:latin typeface="Aptos"/>
              </a:defRPr>
            </a:pPr>
            <a:r>
              <a:t>CHROMADB OR ATLAS VECTOR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697479"/>
            <a:ext cx="28986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EEDF0"/>
                </a:solidFill>
                <a:latin typeface="Aptos"/>
              </a:defRPr>
            </a:pPr>
            <a:r>
              <a:t>Medical knowledge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090672"/>
            <a:ext cx="2898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Stores trusted-document chunks, embeddings, source URLs, trust tiers, page numbers, and document metadata. It is not used as the patient-record store.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81728"/>
            <a:ext cx="10881360" cy="841248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28616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DATA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892040"/>
            <a:ext cx="8412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 → Validate → Process → Retrieve evidence → Generate response → Persist consultation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Design principle: patient data remains in the application database, while medical knowledge is indexed separately for retrieval.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Equal technical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Both members contribute to the core implementation, not only documentation or presentation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5230368" cy="3429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91440" cy="342900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1762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6FAFC"/>
                </a:solidFill>
                <a:latin typeface="Aptos Display"/>
              </a:defRPr>
            </a:pPr>
            <a:r>
              <a:t>Annam Akash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786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23MIA1112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718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EEDF0"/>
                </a:solidFill>
                <a:latin typeface="Aptos"/>
              </a:defRPr>
            </a:pPr>
            <a:r>
              <a:t>Backend, AI workflow &amp; data engineering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465576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5" y="3410712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Design FastAPI APIs and LangGraph workflow orchestration.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858768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5" y="3803904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multimodal input handling and Gemini/Deepgram integration.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251959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5295" y="4197096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Develop RAG ingestion, chunking, embeddings, and vector retrieval.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645151"/>
            <a:ext cx="91440" cy="9144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25295" y="4590288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MongoDB persistence, GridFS image storage, and consultation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901952"/>
            <a:ext cx="5230368" cy="34290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901952"/>
            <a:ext cx="91440" cy="342900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3" y="21762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6FAFC"/>
                </a:solidFill>
                <a:latin typeface="Aptos Display"/>
              </a:defRPr>
            </a:pPr>
            <a:r>
              <a:t>B. 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3" y="25786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23MIA1101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3" y="29718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EEDF0"/>
                </a:solidFill>
                <a:latin typeface="Aptos"/>
              </a:defRPr>
            </a:pPr>
            <a:r>
              <a:t>Client experience, evaluation &amp; responsible AI</a:t>
            </a:r>
          </a:p>
        </p:txBody>
      </p:sp>
      <p:sp>
        <p:nvSpPr>
          <p:cNvPr id="25" name="Oval 24"/>
          <p:cNvSpPr/>
          <p:nvPr/>
        </p:nvSpPr>
        <p:spPr>
          <a:xfrm>
            <a:off x="6528816" y="3465576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8272" y="3410712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Develop the patient/clinician interface and structured intake experience.</a:t>
            </a:r>
          </a:p>
        </p:txBody>
      </p:sp>
      <p:sp>
        <p:nvSpPr>
          <p:cNvPr id="27" name="Oval 26"/>
          <p:cNvSpPr/>
          <p:nvPr/>
        </p:nvSpPr>
        <p:spPr>
          <a:xfrm>
            <a:off x="6528816" y="3858768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3803904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Implement response presentation, source citations, and history views.</a:t>
            </a:r>
          </a:p>
        </p:txBody>
      </p:sp>
      <p:sp>
        <p:nvSpPr>
          <p:cNvPr id="29" name="Oval 28"/>
          <p:cNvSpPr/>
          <p:nvPr/>
        </p:nvSpPr>
        <p:spPr>
          <a:xfrm>
            <a:off x="6528816" y="4251959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4197096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Design evaluation datasets, safety tests, usability checks, and error analysis.</a:t>
            </a:r>
          </a:p>
        </p:txBody>
      </p:sp>
      <p:sp>
        <p:nvSpPr>
          <p:cNvPr id="31" name="Oval 30"/>
          <p:cNvSpPr/>
          <p:nvPr/>
        </p:nvSpPr>
        <p:spPr>
          <a:xfrm>
            <a:off x="6528816" y="4645151"/>
            <a:ext cx="91440" cy="914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4590288"/>
            <a:ext cx="43159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 privacy, fairness, documentation, and end-to-end integration.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96128"/>
            <a:ext cx="10881360" cy="566928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779008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SHARED RESPONSIBILITY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5751576"/>
            <a:ext cx="8001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Architecture decisions · Git collaboration · Integration testing · Lecturer review · Final demonstration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REVIEW 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11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objectives translate the research gap into measurable system-development goals.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230368" cy="32461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82296" cy="324612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58568"/>
            <a:ext cx="4727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3C2B0"/>
                </a:solidFill>
                <a:latin typeface="Aptos"/>
              </a:defRPr>
            </a:pPr>
            <a:r>
              <a:t>SYSTEM OBJECTIVES</a:t>
            </a:r>
          </a:p>
        </p:txBody>
      </p:sp>
      <p:sp>
        <p:nvSpPr>
          <p:cNvPr id="10" name="Oval 9"/>
          <p:cNvSpPr/>
          <p:nvPr/>
        </p:nvSpPr>
        <p:spPr>
          <a:xfrm>
            <a:off x="969264" y="2752344"/>
            <a:ext cx="82296" cy="8229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19" y="2679192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Build a non-diagnostic dermatology-support prototype.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3227832"/>
            <a:ext cx="82296" cy="8229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19" y="3154680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Accept structured text, audio, and optional skin images.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703320"/>
            <a:ext cx="82296" cy="8229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3630168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Provide cautious image observations and red-flag safety triage.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4178808"/>
            <a:ext cx="82296" cy="8229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105656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Generate evidence-linked educational responses without prescribing.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057400"/>
            <a:ext cx="5230368" cy="32461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057400"/>
            <a:ext cx="82296" cy="32461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258568"/>
            <a:ext cx="4727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7E67"/>
                </a:solidFill>
                <a:latin typeface="Aptos"/>
              </a:defRPr>
            </a:pPr>
            <a:r>
              <a:t>ENGINEERING OBJECTIVES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752344"/>
            <a:ext cx="82296" cy="82296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2679192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Use LangGraph to coordinate a bounded, testable workflow.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3227832"/>
            <a:ext cx="82296" cy="82296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6" y="3154680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Ground answers with trusted local RAG and optional web research.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703320"/>
            <a:ext cx="82296" cy="82296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3630168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Persist consultation context and images for longitudinal follow-up.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4178808"/>
            <a:ext cx="82296" cy="82296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4105656"/>
            <a:ext cx="44531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F6FAFC"/>
                </a:solidFill>
                <a:latin typeface="Aptos"/>
              </a:defRPr>
            </a:pPr>
            <a:r>
              <a:t>Evaluate reliability, safety boundaries, privacy, and usability.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806440"/>
            <a:ext cx="10835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Success criterion: a working, testable vertical slice with clearly stated limitations—not a claim of clinical validation.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EXPECTED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Expected novelty of DermTrack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novelty is in the integration and safety boundary of the workflow, rather than in claiming a new medical diagnosis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84831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84831"/>
            <a:ext cx="82296" cy="148132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95144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C2B0"/>
                </a:solidFill>
                <a:latin typeface="Aptos"/>
              </a:defRPr>
            </a:pPr>
            <a:r>
              <a:t>01  INTEGRATED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88336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Combines structured intake, optional images, audio transcription, and consultation history instead of relying on an image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84831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84831"/>
            <a:ext cx="82296" cy="148132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95144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7E67"/>
                </a:solidFill>
                <a:latin typeface="Aptos"/>
              </a:defRPr>
            </a:pPr>
            <a:r>
              <a:t>02  GROUNDED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88336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Connects local trusted RAG with source metadata and optional bounded web research for evidence-aware responses.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084831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084831"/>
            <a:ext cx="82296" cy="148132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295144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C2B0"/>
                </a:solidFill>
                <a:latin typeface="Aptos"/>
              </a:defRPr>
            </a:pPr>
            <a:r>
              <a:t>03  SAFETY-FIRST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688336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Makes red-flag triage and non-diagnostic boundaries explicit before response generation.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977639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977639"/>
            <a:ext cx="82296" cy="148132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187952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7E67"/>
                </a:solidFill>
                <a:latin typeface="Aptos"/>
              </a:defRPr>
            </a:pPr>
            <a:r>
              <a:t>04  PRIVACY MINIMIZATION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581144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Uses de-identified structured queries for optional web research and keeps sensitive consultation data in the application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977639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977639"/>
            <a:ext cx="82296" cy="148132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4187952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3C2B0"/>
                </a:solidFill>
                <a:latin typeface="Aptos"/>
              </a:defRPr>
            </a:pPr>
            <a:r>
              <a:t>05  LONGITUDINAL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81144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Preserves consultation records and uploaded images to support organized follow-up context.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3977639"/>
            <a:ext cx="3401568" cy="148132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2" y="3977639"/>
            <a:ext cx="82296" cy="148132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187952"/>
            <a:ext cx="28986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7E67"/>
                </a:solidFill>
                <a:latin typeface="Aptos"/>
              </a:defRPr>
            </a:pPr>
            <a:r>
              <a:t>06  EVALUABLE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581144"/>
            <a:ext cx="289864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6FAFC"/>
                </a:solidFill>
                <a:latin typeface="Aptos"/>
              </a:defRPr>
            </a:pPr>
            <a:r>
              <a:t>Separates workflow stages so retrieval, triage, generation, persistence, and limitations can be tested independently.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novelty: a privacy-conscious, evidence-grounded support workflow that is explicit about what it can and cannot 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Work plan for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15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work plan moves from evidence and requirements to a tested vertical slice, followed by evaluation and presentation readiness.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2377440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49631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5000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7919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Requirements, literature survey, research gap, 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0288" y="2377440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49631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235000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Core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9512" y="267919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FastAPI, schemas, LangGraph workflow, safety triage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148840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2377440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496312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0264" y="2350008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Knowledge +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2679192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RAG ingestion, vector search, MongoDB, GridFS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21608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9536" y="395020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06908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92277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Multimodal +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2519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Audio, image observation, intake interface, history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21608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0288" y="395020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406908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392277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42519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Unit tests, workflow tests, safety checks, error analysis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721608"/>
            <a:ext cx="3364992" cy="1188720"/>
          </a:xfrm>
          <a:prstGeom prst="roundRect">
            <a:avLst/>
          </a:prstGeom>
          <a:solidFill>
            <a:srgbClr val="102A43"/>
          </a:solidFill>
          <a:ln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40" y="395020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406908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92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3922776"/>
            <a:ext cx="2240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Finalization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0264" y="425196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Integration demo, documentation, report, lecturer 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Milestone: demonstrate one complete consultation path before expanding scope.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1811</Words>
  <Application>Microsoft Office PowerPoint</Application>
  <PresentationFormat>Widescreen</PresentationFormat>
  <Paragraphs>245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DermTrack Agent — Complete Review 1 Presentation</dc:title>
  <dc:subject>Problem, literature, gap, objectives, solution, novelty, architecture, database, work plan</dc:subject>
  <dc:creator>Annam Akash and B. Hema</dc:creator>
  <cp:keywords/>
  <dc:description>generated using python-pptx</dc:description>
  <cp:lastModifiedBy>Akash Annam</cp:lastModifiedBy>
  <cp:revision>2</cp:revision>
  <dcterms:created xsi:type="dcterms:W3CDTF">2013-01-27T09:14:16Z</dcterms:created>
  <dcterms:modified xsi:type="dcterms:W3CDTF">2026-08-27T15:16:19Z</dcterms:modified>
  <cp:category/>
</cp:coreProperties>
</file>